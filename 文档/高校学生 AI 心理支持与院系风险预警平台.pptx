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www.chinanews.com.cn/life/2025/12-26/10540933.shtml" TargetMode="External"/><Relationship Id="rId3" Type="http://schemas.openxmlformats.org/officeDocument/2006/relationships/hyperlink" Target="https://edu.cnr.cn/sy/sytjB/20250321/t20250321_527107828.shtml" TargetMode="External"/><Relationship Id="rId2" Type="http://schemas.openxmlformats.org/officeDocument/2006/relationships/hyperlink" Target="http://psy.china.com.cn/2025-06/20/content_43141390.htm" TargetMode="External"/><Relationship Id="rId1" Type="http://schemas.openxmlformats.org/officeDocument/2006/relationships/hyperlink" Target="https://paper.people.com.cn/rmrb/pc/content/202511/14/content_30114924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8" Type="http://schemas.openxmlformats.org/officeDocument/2006/relationships/notesSlide" Target="../notesSlides/notesSlide7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54.xml"/><Relationship Id="rId35" Type="http://schemas.openxmlformats.org/officeDocument/2006/relationships/tags" Target="../tags/tag53.xml"/><Relationship Id="rId34" Type="http://schemas.openxmlformats.org/officeDocument/2006/relationships/tags" Target="../tags/tag52.xml"/><Relationship Id="rId33" Type="http://schemas.openxmlformats.org/officeDocument/2006/relationships/tags" Target="../tags/tag51.xml"/><Relationship Id="rId32" Type="http://schemas.openxmlformats.org/officeDocument/2006/relationships/tags" Target="../tags/tag50.xml"/><Relationship Id="rId31" Type="http://schemas.openxmlformats.org/officeDocument/2006/relationships/tags" Target="../tags/tag49.xml"/><Relationship Id="rId30" Type="http://schemas.openxmlformats.org/officeDocument/2006/relationships/tags" Target="../tags/tag48.xml"/><Relationship Id="rId3" Type="http://schemas.openxmlformats.org/officeDocument/2006/relationships/tags" Target="../tags/tag21.xml"/><Relationship Id="rId29" Type="http://schemas.openxmlformats.org/officeDocument/2006/relationships/tags" Target="../tags/tag47.xml"/><Relationship Id="rId28" Type="http://schemas.openxmlformats.org/officeDocument/2006/relationships/tags" Target="../tags/tag46.xml"/><Relationship Id="rId27" Type="http://schemas.openxmlformats.org/officeDocument/2006/relationships/tags" Target="../tags/tag45.xml"/><Relationship Id="rId26" Type="http://schemas.openxmlformats.org/officeDocument/2006/relationships/tags" Target="../tags/tag44.xml"/><Relationship Id="rId25" Type="http://schemas.openxmlformats.org/officeDocument/2006/relationships/tags" Target="../tags/tag43.xml"/><Relationship Id="rId24" Type="http://schemas.openxmlformats.org/officeDocument/2006/relationships/tags" Target="../tags/tag42.xml"/><Relationship Id="rId23" Type="http://schemas.openxmlformats.org/officeDocument/2006/relationships/tags" Target="../tags/tag41.xml"/><Relationship Id="rId22" Type="http://schemas.openxmlformats.org/officeDocument/2006/relationships/tags" Target="../tags/tag40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2" Type="http://schemas.openxmlformats.org/officeDocument/2006/relationships/notesSlide" Target="../notesSlides/notesSlide11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74.xml"/><Relationship Id="rId2" Type="http://schemas.openxmlformats.org/officeDocument/2006/relationships/tags" Target="../tags/tag56.xml"/><Relationship Id="rId19" Type="http://schemas.openxmlformats.org/officeDocument/2006/relationships/tags" Target="../tags/tag7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tags" Target="../tags/tag7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38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554480"/>
            <a:ext cx="4206240" cy="4206240"/>
          </a:xfrm>
          <a:prstGeom prst="ellipse">
            <a:avLst/>
          </a:prstGeom>
          <a:solidFill>
            <a:srgbClr val="51487F"/>
          </a:solidFill>
        </p:spPr>
      </p:sp>
      <p:sp>
        <p:nvSpPr>
          <p:cNvPr id="3" name="Shape 1"/>
          <p:cNvSpPr/>
          <p:nvPr/>
        </p:nvSpPr>
        <p:spPr>
          <a:xfrm>
            <a:off x="7635240" y="2834640"/>
            <a:ext cx="2468880" cy="2468880"/>
          </a:xfrm>
          <a:prstGeom prst="ellipse">
            <a:avLst/>
          </a:prstGeom>
          <a:solidFill>
            <a:srgbClr val="4A4380"/>
          </a:solidFill>
        </p:spPr>
      </p:sp>
      <p:sp>
        <p:nvSpPr>
          <p:cNvPr id="4" name="Shape 2"/>
          <p:cNvSpPr/>
          <p:nvPr/>
        </p:nvSpPr>
        <p:spPr>
          <a:xfrm>
            <a:off x="-914400" y="3291840"/>
            <a:ext cx="2377440" cy="2377440"/>
          </a:xfrm>
          <a:prstGeom prst="ellipse">
            <a:avLst/>
          </a:prstGeom>
          <a:solidFill>
            <a:srgbClr val="4A4380"/>
          </a:solidFill>
        </p:spPr>
      </p:sp>
      <p:sp>
        <p:nvSpPr>
          <p:cNvPr id="5" name="Shape 3"/>
          <p:cNvSpPr/>
          <p:nvPr/>
        </p:nvSpPr>
        <p:spPr>
          <a:xfrm>
            <a:off x="640080" y="71323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07A5F"/>
          </a:solidFill>
        </p:spPr>
      </p:sp>
      <p:sp>
        <p:nvSpPr>
          <p:cNvPr id="6" name="Text 4"/>
          <p:cNvSpPr/>
          <p:nvPr/>
        </p:nvSpPr>
        <p:spPr>
          <a:xfrm>
            <a:off x="640080" y="731520"/>
            <a:ext cx="566928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BDB5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开题汇报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783080"/>
            <a:ext cx="786384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21538" y="1975358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EDEAF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高校学生 AI 心理支持与院系风险预警平台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" y="3401568"/>
            <a:ext cx="224942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54096" y="3401568"/>
            <a:ext cx="224942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49824" y="3401568"/>
            <a:ext cx="224942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" y="4224528"/>
            <a:ext cx="2926080" cy="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334256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DB5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</a:t>
            </a:r>
            <a:r>
              <a:rPr lang="zh-CN" altLang="en-US" sz="1200" dirty="0">
                <a:solidFill>
                  <a:srgbClr val="BDB5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</a:t>
            </a:r>
            <a:r>
              <a:rPr lang="en-US" sz="1200" dirty="0">
                <a:solidFill>
                  <a:srgbClr val="BDB5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1200" dirty="0">
                <a:solidFill>
                  <a:srgbClr val="BDB5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黄枭</a:t>
            </a:r>
            <a:r>
              <a:rPr lang="en-US" altLang="zh-CN" sz="1200" dirty="0">
                <a:solidFill>
                  <a:srgbClr val="BDB5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200" dirty="0">
                <a:solidFill>
                  <a:srgbClr val="BDB5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吴铠涛</a:t>
            </a:r>
            <a:r>
              <a:rPr lang="en-US" altLang="zh-CN" sz="1200" dirty="0">
                <a:solidFill>
                  <a:srgbClr val="BDB5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200" dirty="0">
                <a:solidFill>
                  <a:srgbClr val="BDB5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陈佳浩</a:t>
            </a:r>
            <a:r>
              <a:rPr lang="en-US" altLang="zh-CN" sz="1200" dirty="0">
                <a:solidFill>
                  <a:srgbClr val="BDB5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200" dirty="0">
                <a:solidFill>
                  <a:srgbClr val="BDB5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吕星炎</a:t>
            </a:r>
            <a:r>
              <a:rPr lang="en-US" altLang="zh-CN" sz="1200" dirty="0">
                <a:solidFill>
                  <a:srgbClr val="BDB5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200" dirty="0">
                <a:solidFill>
                  <a:srgbClr val="BDB5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陈炫耀</a:t>
            </a:r>
            <a:r>
              <a:rPr lang="en-US" sz="1200" dirty="0">
                <a:solidFill>
                  <a:srgbClr val="BDB5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　　|　2026 年 9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75488"/>
          </a:xfrm>
          <a:prstGeom prst="roundRect">
            <a:avLst>
              <a:gd name="adj" fmla="val 25000"/>
            </a:avLst>
          </a:prstGeom>
          <a:solidFill>
            <a:srgbClr val="E07A5F"/>
          </a:solidFill>
        </p:spPr>
      </p:sp>
      <p:sp>
        <p:nvSpPr>
          <p:cNvPr id="3" name="Text 1"/>
          <p:cNvSpPr/>
          <p:nvPr/>
        </p:nvSpPr>
        <p:spPr>
          <a:xfrm>
            <a:off x="658368" y="3291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E8E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汇报目录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82296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658368" y="1344168"/>
            <a:ext cx="566928" cy="402336"/>
          </a:xfrm>
          <a:prstGeom prst="roundRect">
            <a:avLst>
              <a:gd name="adj" fmla="val 15909"/>
            </a:avLst>
          </a:prstGeom>
          <a:solidFill>
            <a:srgbClr val="5E4B8B"/>
          </a:solidFill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658368" y="1344168"/>
            <a:ext cx="5669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1417320" y="130759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课题背景与意义</a:t>
            </a: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417320" y="1581912"/>
            <a:ext cx="6217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6B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心理健康现状与权威数据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55280" y="1261872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C3BED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82296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658368" y="2039112"/>
            <a:ext cx="566928" cy="402336"/>
          </a:xfrm>
          <a:prstGeom prst="roundRect">
            <a:avLst>
              <a:gd name="adj" fmla="val 15909"/>
            </a:avLst>
          </a:prstGeom>
          <a:solidFill>
            <a:srgbClr val="3E8E9E"/>
          </a:solidFill>
        </p:spPr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658368" y="2039112"/>
            <a:ext cx="5669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1417320" y="2002536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问题定义与竞品分析</a:t>
            </a:r>
            <a:endParaRPr lang="en-US" sz="1500" dirty="0"/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1417320" y="2276856"/>
            <a:ext cx="6217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6B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三大痛点与市场空白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55280" y="1956816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C3BED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82296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9"/>
            </p:custDataLst>
          </p:nvPr>
        </p:nvSpPr>
        <p:spPr>
          <a:xfrm>
            <a:off x="658368" y="2734056"/>
            <a:ext cx="566928" cy="402336"/>
          </a:xfrm>
          <a:prstGeom prst="roundRect">
            <a:avLst>
              <a:gd name="adj" fmla="val 15909"/>
            </a:avLst>
          </a:prstGeom>
          <a:solidFill>
            <a:srgbClr val="5E4B8B"/>
          </a:solidFill>
        </p:spPr>
      </p:sp>
      <p:sp>
        <p:nvSpPr>
          <p:cNvPr id="19" name="Text 17"/>
          <p:cNvSpPr/>
          <p:nvPr>
            <p:custDataLst>
              <p:tags r:id="rId10"/>
            </p:custDataLst>
          </p:nvPr>
        </p:nvSpPr>
        <p:spPr>
          <a:xfrm>
            <a:off x="658368" y="2734056"/>
            <a:ext cx="5669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1417320" y="269748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产品创意与系统设计</a:t>
            </a:r>
            <a:endParaRPr lang="en-US" sz="1500" dirty="0"/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1417320" y="2971800"/>
            <a:ext cx="6217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6B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定位、闭环、架构、功能与用例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55280" y="2651760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C3BED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57200" y="3328416"/>
            <a:ext cx="82296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24" name="Shape 22"/>
          <p:cNvSpPr/>
          <p:nvPr>
            <p:custDataLst>
              <p:tags r:id="rId13"/>
            </p:custDataLst>
          </p:nvPr>
        </p:nvSpPr>
        <p:spPr>
          <a:xfrm>
            <a:off x="658368" y="3429000"/>
            <a:ext cx="566928" cy="402336"/>
          </a:xfrm>
          <a:prstGeom prst="roundRect">
            <a:avLst>
              <a:gd name="adj" fmla="val 15909"/>
            </a:avLst>
          </a:prstGeom>
          <a:solidFill>
            <a:srgbClr val="3E8E9E"/>
          </a:solidFill>
        </p:spPr>
      </p:sp>
      <p:sp>
        <p:nvSpPr>
          <p:cNvPr id="25" name="Text 23"/>
          <p:cNvSpPr/>
          <p:nvPr>
            <p:custDataLst>
              <p:tags r:id="rId14"/>
            </p:custDataLst>
          </p:nvPr>
        </p:nvSpPr>
        <p:spPr>
          <a:xfrm>
            <a:off x="658368" y="3429000"/>
            <a:ext cx="5669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>
            <p:custDataLst>
              <p:tags r:id="rId15"/>
            </p:custDataLst>
          </p:nvPr>
        </p:nvSpPr>
        <p:spPr>
          <a:xfrm>
            <a:off x="1417320" y="3392424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技术选型与可行性</a:t>
            </a:r>
            <a:endParaRPr lang="en-US" sz="1500" dirty="0"/>
          </a:p>
        </p:txBody>
      </p:sp>
      <p:sp>
        <p:nvSpPr>
          <p:cNvPr id="27" name="Text 25"/>
          <p:cNvSpPr/>
          <p:nvPr>
            <p:custDataLst>
              <p:tags r:id="rId16"/>
            </p:custDataLst>
          </p:nvPr>
        </p:nvSpPr>
        <p:spPr>
          <a:xfrm>
            <a:off x="1417320" y="3666744"/>
            <a:ext cx="6217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E6B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技术栈、可行性、风险与伦理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55280" y="3346704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C3BED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Text 29"/>
          <p:cNvSpPr/>
          <p:nvPr>
            <p:custDataLst>
              <p:tags r:id="rId17"/>
            </p:custDataLst>
          </p:nvPr>
        </p:nvSpPr>
        <p:spPr>
          <a:xfrm>
            <a:off x="658368" y="4123944"/>
            <a:ext cx="5669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>
            <p:custDataLst>
              <p:tags r:id="rId18"/>
            </p:custDataLst>
          </p:nvPr>
        </p:nvSpPr>
        <p:spPr>
          <a:xfrm>
            <a:off x="1417320" y="4361688"/>
            <a:ext cx="6217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55280" y="4041648"/>
            <a:ext cx="4572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C3BED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75320" y="480974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A3B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75488"/>
          </a:xfrm>
          <a:prstGeom prst="roundRect">
            <a:avLst>
              <a:gd name="adj" fmla="val 25000"/>
            </a:avLst>
          </a:prstGeom>
          <a:solidFill>
            <a:srgbClr val="E07A5F"/>
          </a:solidFill>
        </p:spPr>
      </p:sp>
      <p:sp>
        <p:nvSpPr>
          <p:cNvPr id="3" name="Text 1"/>
          <p:cNvSpPr/>
          <p:nvPr/>
        </p:nvSpPr>
        <p:spPr>
          <a:xfrm>
            <a:off x="658368" y="3291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E8E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课题背景与意义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大学生心理困扰高发，求助却“够不着”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8368" y="914400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6B8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需求真实、政策支持、技术第一次让低成本的日常心理支持成为可能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1960" y="1207008"/>
            <a:ext cx="3886200" cy="3456432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  <p:txBody>
          <a:bodyPr/>
          <a:p>
            <a:endParaRPr lang="zh-CN" altLang="en-US"/>
          </a:p>
          <a:p>
            <a:r>
              <a:rPr lang="en-US" altLang="zh-CN"/>
              <a:t>  </a:t>
            </a:r>
            <a:r>
              <a:rPr lang="zh-CN" altLang="en-US"/>
              <a:t>背景</a:t>
            </a:r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76656" y="14447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1872" y="148132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94944" y="2048256"/>
            <a:ext cx="3429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E4B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困扰普遍：</a:t>
            </a:r>
            <a:r>
              <a:rPr lang="en-US" sz="1100" dirty="0">
                <a:solidFill>
                  <a:srgbClr val="4A4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学业、就业、人际多重压力下，焦虑与抑郁症状在大学生中并不少见，考试季、</a:t>
            </a:r>
            <a:r>
              <a:rPr lang="zh-CN" altLang="en-US" sz="1100" dirty="0">
                <a:solidFill>
                  <a:srgbClr val="4A4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期末周，</a:t>
            </a:r>
            <a:r>
              <a:rPr lang="en-US" sz="1100" dirty="0">
                <a:solidFill>
                  <a:srgbClr val="4A4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毕业季尤为集中。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" y="2688336"/>
            <a:ext cx="3429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E4B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求助受阻：</a:t>
            </a:r>
            <a:r>
              <a:rPr lang="en-US" sz="1100" dirty="0">
                <a:solidFill>
                  <a:srgbClr val="4A4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病耻感、隐私担忧与线下咨询的时空限制，使学生“知道却不用”，情绪缺少低门槛出口。</a:t>
            </a:r>
            <a:r>
              <a:rPr lang="zh-CN" altLang="en-US" sz="1100" dirty="0">
                <a:solidFill>
                  <a:srgbClr val="4A4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大部分学生比较内向，宁愿自己消化情绪</a:t>
            </a:r>
            <a:endParaRPr lang="zh-CN" altLang="en-US" sz="1100" dirty="0">
              <a:solidFill>
                <a:srgbClr val="4A47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94944" y="3328416"/>
            <a:ext cx="3429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5E4B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力量不足：</a:t>
            </a:r>
            <a:r>
              <a:rPr lang="en-US" sz="1100" dirty="0">
                <a:solidFill>
                  <a:srgbClr val="4A4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校均心理师资紧张，危机往往事后才被发现，院系缺少隐私友好的群体趋势感知手段。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3968496"/>
            <a:ext cx="342900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1207008"/>
            <a:ext cx="4160520" cy="3456432"/>
          </a:xfrm>
          <a:prstGeom prst="roundRect">
            <a:avLst>
              <a:gd name="adj" fmla="val 2381"/>
            </a:avLst>
          </a:prstGeom>
          <a:solidFill>
            <a:srgbClr val="3E3868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444752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课题意义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782312" y="1920240"/>
            <a:ext cx="3648456" cy="786384"/>
          </a:xfrm>
          <a:prstGeom prst="roundRect">
            <a:avLst>
              <a:gd name="adj" fmla="val 8140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6E6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46904" y="2011680"/>
            <a:ext cx="868680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E8A8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对学生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24728" y="1993392"/>
            <a:ext cx="248716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E4E0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匿名的情绪出口与规范自评，降低求助门槛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4782312" y="2816352"/>
            <a:ext cx="3648456" cy="786384"/>
          </a:xfrm>
          <a:prstGeom prst="roundRect">
            <a:avLst>
              <a:gd name="adj" fmla="val 8140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6E6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46904" y="2907792"/>
            <a:ext cx="868680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E8A8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对学校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824728" y="2889504"/>
            <a:ext cx="248716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E4E0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在保护隐私前提下感知院系风险趋势，把干预前移到危机发生之前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782312" y="3712464"/>
            <a:ext cx="3648456" cy="786384"/>
          </a:xfrm>
          <a:prstGeom prst="roundRect">
            <a:avLst>
              <a:gd name="adj" fmla="val 8140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6E6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46904" y="3803904"/>
            <a:ext cx="868680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E8A87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对社会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824728" y="3785616"/>
            <a:ext cx="248716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E4E0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以低成本软件放大稀缺的专业心理服务，回应健康中国与校园心理育人要求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275320" y="480974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A3B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75488"/>
          </a:xfrm>
          <a:prstGeom prst="roundRect">
            <a:avLst>
              <a:gd name="adj" fmla="val 25000"/>
            </a:avLst>
          </a:prstGeom>
          <a:solidFill>
            <a:srgbClr val="E07A5F"/>
          </a:solidFill>
        </p:spPr>
      </p:sp>
      <p:sp>
        <p:nvSpPr>
          <p:cNvPr id="3" name="Text 1"/>
          <p:cNvSpPr/>
          <p:nvPr/>
        </p:nvSpPr>
        <p:spPr>
          <a:xfrm>
            <a:off x="658368" y="3291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E8E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课题背景与意义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四个数据，看清校园心理健康的供需落差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68496" cy="1572768"/>
          </a:xfrm>
          <a:prstGeom prst="roundRect">
            <a:avLst>
              <a:gd name="adj" fmla="val 5233"/>
            </a:avLst>
          </a:prstGeom>
          <a:solidFill>
            <a:srgbClr val="EEEBF7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91440" cy="1572768"/>
          </a:xfrm>
          <a:prstGeom prst="roundRect">
            <a:avLst>
              <a:gd name="adj" fmla="val 50000"/>
            </a:avLst>
          </a:prstGeom>
          <a:solidFill>
            <a:srgbClr val="5E4B8B"/>
          </a:solidFill>
        </p:spPr>
      </p:sp>
      <p:sp>
        <p:nvSpPr>
          <p:cNvPr id="7" name="Text 5"/>
          <p:cNvSpPr/>
          <p:nvPr/>
        </p:nvSpPr>
        <p:spPr>
          <a:xfrm>
            <a:off x="713232" y="1335024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5E4B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15%–25%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青少年抑郁症状检出率区间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21284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B58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症状筛查口径（非临床诊断），大学生焦虑、压力问题同样突出</a:t>
            </a:r>
            <a:endParaRPr lang="en-US" sz="960" dirty="0"/>
          </a:p>
        </p:txBody>
      </p:sp>
      <p:sp>
        <p:nvSpPr>
          <p:cNvPr id="10" name="Text 8">
            <a:hlinkClick r:id="rId1" action="ppaction://hlinkfile"/>
          </p:cNvPr>
          <p:cNvSpPr/>
          <p:nvPr/>
        </p:nvSpPr>
        <p:spPr>
          <a:xfrm>
            <a:off x="731520" y="256032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760" i="1" dirty="0">
                <a:solidFill>
                  <a:srgbClr val="938F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来源：中科院心理所《中国国民心理健康发展报告（2023—2024）》</a:t>
            </a:r>
            <a:endParaRPr lang="en-US" sz="760" i="1" dirty="0">
              <a:solidFill>
                <a:srgbClr val="938F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760" dirty="0">
                <a:hlinkClick r:id="rId1" action="ppaction://hlinkfile"/>
              </a:rPr>
              <a:t>https://paper.people.com.cn/rmrb/pc/content/202511/14/content_30114924.html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4718304" y="1188720"/>
            <a:ext cx="3968496" cy="1572768"/>
          </a:xfrm>
          <a:prstGeom prst="roundRect">
            <a:avLst>
              <a:gd name="adj" fmla="val 5233"/>
            </a:avLst>
          </a:prstGeom>
          <a:solidFill>
            <a:srgbClr val="FBEAE6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1188720"/>
            <a:ext cx="91440" cy="1572768"/>
          </a:xfrm>
          <a:prstGeom prst="roundRect">
            <a:avLst>
              <a:gd name="adj" fmla="val 50000"/>
            </a:avLst>
          </a:prstGeom>
          <a:solidFill>
            <a:srgbClr val="E07A5F"/>
          </a:solidFill>
        </p:spPr>
      </p:sp>
      <p:sp>
        <p:nvSpPr>
          <p:cNvPr id="13" name="Text 11"/>
          <p:cNvSpPr/>
          <p:nvPr/>
        </p:nvSpPr>
        <p:spPr>
          <a:xfrm>
            <a:off x="4974336" y="1335024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E07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80%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7050024" y="149961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07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2.8%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92624" y="193852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知道学校有免费咨询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92624" y="221284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B58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约八成学生知晓，但仅 2.8% 实际使用过，求助门槛与病耻感显著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4992624" y="256032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760" i="1" dirty="0">
                <a:solidFill>
                  <a:srgbClr val="938F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来源：《2024 年大学生心理健康状况调查报告》</a:t>
            </a:r>
            <a:endParaRPr lang="en-US" sz="760" i="1" dirty="0">
              <a:solidFill>
                <a:srgbClr val="938F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760" dirty="0">
                <a:hlinkClick r:id="rId2"/>
              </a:rPr>
              <a:t>http://psy.china.com.cn/2025-06/20/content_43141390.htm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457200" y="2980944"/>
            <a:ext cx="3968496" cy="1572768"/>
          </a:xfrm>
          <a:prstGeom prst="roundRect">
            <a:avLst>
              <a:gd name="adj" fmla="val 5233"/>
            </a:avLst>
          </a:prstGeom>
          <a:solidFill>
            <a:srgbClr val="E4F1F3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80944"/>
            <a:ext cx="91440" cy="1572768"/>
          </a:xfrm>
          <a:prstGeom prst="roundRect">
            <a:avLst>
              <a:gd name="adj" fmla="val 50000"/>
            </a:avLst>
          </a:prstGeom>
          <a:solidFill>
            <a:srgbClr val="3E8E9E"/>
          </a:solidFill>
        </p:spPr>
      </p:sp>
      <p:sp>
        <p:nvSpPr>
          <p:cNvPr id="20" name="Text 18"/>
          <p:cNvSpPr/>
          <p:nvPr/>
        </p:nvSpPr>
        <p:spPr>
          <a:xfrm>
            <a:off x="713232" y="3127248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3E8E9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1:3920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731520" y="373075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高校专职心理教师师生比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" y="4005072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B58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90 万持证咨询师中仅 3–4 万人实际从业，一线支持力量紧张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731520" y="4352544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760" i="1" dirty="0">
                <a:solidFill>
                  <a:srgbClr val="938F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来源：教育部建设文件 / 央广网（2025）</a:t>
            </a:r>
            <a:endParaRPr lang="en-US" sz="760" i="1" dirty="0">
              <a:solidFill>
                <a:srgbClr val="938F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760" dirty="0">
                <a:hlinkClick r:id="rId3" action="ppaction://hlinkfile"/>
              </a:rPr>
              <a:t>https://edu.cnr.cn/sy/sytjB/20250321/t20250321_527107828.shtml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4718304" y="2980944"/>
            <a:ext cx="3968496" cy="1572768"/>
          </a:xfrm>
          <a:prstGeom prst="roundRect">
            <a:avLst>
              <a:gd name="adj" fmla="val 5233"/>
            </a:avLst>
          </a:prstGeom>
          <a:solidFill>
            <a:srgbClr val="E7F4EC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18304" y="2980944"/>
            <a:ext cx="91440" cy="1572768"/>
          </a:xfrm>
          <a:prstGeom prst="roundRect">
            <a:avLst>
              <a:gd name="adj" fmla="val 50000"/>
            </a:avLst>
          </a:prstGeom>
          <a:solidFill>
            <a:srgbClr val="4C9A6A"/>
          </a:solidFill>
        </p:spPr>
      </p:sp>
      <p:sp>
        <p:nvSpPr>
          <p:cNvPr id="26" name="Text 24"/>
          <p:cNvSpPr/>
          <p:nvPr/>
        </p:nvSpPr>
        <p:spPr>
          <a:xfrm>
            <a:off x="4974336" y="3127248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4C9A6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70万+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7050024" y="32918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4C9A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近万起干预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92624" y="373075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12356 心理援助热线累计来电量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92624" y="4005072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B58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已接通 70 余万通、成功实施危机干预近万起，匿名热线是重要兜底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4992624" y="4352544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0000"/>
          </a:bodyPr>
          <a:lstStyle/>
          <a:p>
            <a:pPr marL="0" indent="0">
              <a:buNone/>
            </a:pPr>
            <a:r>
              <a:rPr lang="en-US" sz="760" i="1" dirty="0">
                <a:solidFill>
                  <a:srgbClr val="938F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来源：国家卫健委新闻发布会（2025）</a:t>
            </a:r>
            <a:endParaRPr lang="en-US" sz="760" i="1" dirty="0">
              <a:solidFill>
                <a:srgbClr val="938F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buNone/>
            </a:pPr>
            <a:r>
              <a:rPr lang="en-US" sz="760" dirty="0">
                <a:hlinkClick r:id="rId4" action="ppaction://hlinkfile"/>
              </a:rPr>
              <a:t>https://www.chinanews.com.cn/life/2025/12-26/10540933.shtml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457200" y="4809617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75320" y="480974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A3B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75488"/>
          </a:xfrm>
          <a:prstGeom prst="roundRect">
            <a:avLst>
              <a:gd name="adj" fmla="val 25000"/>
            </a:avLst>
          </a:prstGeom>
          <a:solidFill>
            <a:srgbClr val="E07A5F"/>
          </a:solidFill>
        </p:spPr>
      </p:sp>
      <p:sp>
        <p:nvSpPr>
          <p:cNvPr id="3" name="Text 1"/>
          <p:cNvSpPr/>
          <p:nvPr/>
        </p:nvSpPr>
        <p:spPr>
          <a:xfrm>
            <a:off x="658368" y="3291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E8E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问题定义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我们要解决的三个核心问题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554480"/>
            <a:ext cx="713232" cy="713232"/>
          </a:xfrm>
          <a:prstGeom prst="ellipse">
            <a:avLst/>
          </a:prstGeom>
          <a:solidFill>
            <a:srgbClr val="E07A5F"/>
          </a:solidFill>
        </p:spPr>
      </p:sp>
      <p:sp>
        <p:nvSpPr>
          <p:cNvPr id="7" name="Text 5"/>
          <p:cNvSpPr/>
          <p:nvPr/>
        </p:nvSpPr>
        <p:spPr>
          <a:xfrm>
            <a:off x="694944" y="155448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13232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7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" y="2633472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不愿求助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13232" y="3246120"/>
            <a:ext cx="91440" cy="91440"/>
          </a:xfrm>
          <a:prstGeom prst="ellipse">
            <a:avLst/>
          </a:prstGeom>
          <a:solidFill>
            <a:srgbClr val="E07A5F"/>
          </a:solidFill>
        </p:spPr>
      </p:sp>
      <p:sp>
        <p:nvSpPr>
          <p:cNvPr id="11" name="Text 9"/>
          <p:cNvSpPr/>
          <p:nvPr/>
        </p:nvSpPr>
        <p:spPr>
          <a:xfrm>
            <a:off x="896112" y="3163824"/>
            <a:ext cx="20299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4A4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病耻感与隐私担忧，让学生宁愿自我消化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713232" y="3849624"/>
            <a:ext cx="91440" cy="91440"/>
          </a:xfrm>
          <a:prstGeom prst="ellipse">
            <a:avLst/>
          </a:prstGeom>
          <a:solidFill>
            <a:srgbClr val="E07A5F"/>
          </a:solidFill>
        </p:spPr>
      </p:sp>
      <p:sp>
        <p:nvSpPr>
          <p:cNvPr id="13" name="Text 11"/>
          <p:cNvSpPr/>
          <p:nvPr/>
        </p:nvSpPr>
        <p:spPr>
          <a:xfrm>
            <a:off x="896112" y="3767328"/>
            <a:ext cx="20299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4A4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线下咨询使用率仅 2.8%，情绪问题被不断推迟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3264408" y="1298448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02152" y="1554480"/>
            <a:ext cx="713232" cy="713232"/>
          </a:xfrm>
          <a:prstGeom prst="ellipse">
            <a:avLst/>
          </a:prstGeom>
          <a:solidFill>
            <a:srgbClr val="5E4B8B"/>
          </a:solidFill>
        </p:spPr>
      </p:sp>
      <p:sp>
        <p:nvSpPr>
          <p:cNvPr id="16" name="Text 14"/>
          <p:cNvSpPr/>
          <p:nvPr/>
        </p:nvSpPr>
        <p:spPr>
          <a:xfrm>
            <a:off x="3502152" y="155448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伴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20440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E4B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痛点二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02152" y="2633472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情绪无处安放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520440" y="3246120"/>
            <a:ext cx="91440" cy="91440"/>
          </a:xfrm>
          <a:prstGeom prst="ellipse">
            <a:avLst/>
          </a:prstGeom>
          <a:solidFill>
            <a:srgbClr val="5E4B8B"/>
          </a:solidFill>
        </p:spPr>
      </p:sp>
      <p:sp>
        <p:nvSpPr>
          <p:cNvPr id="20" name="Text 18"/>
          <p:cNvSpPr/>
          <p:nvPr/>
        </p:nvSpPr>
        <p:spPr>
          <a:xfrm>
            <a:off x="3703320" y="3163824"/>
            <a:ext cx="20299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4A4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 7×24、零评判、低门槛的倾诉出口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3520440" y="3849624"/>
            <a:ext cx="91440" cy="91440"/>
          </a:xfrm>
          <a:prstGeom prst="ellipse">
            <a:avLst/>
          </a:prstGeom>
          <a:solidFill>
            <a:srgbClr val="5E4B8B"/>
          </a:solidFill>
        </p:spPr>
      </p:sp>
      <p:sp>
        <p:nvSpPr>
          <p:cNvPr id="22" name="Text 20"/>
          <p:cNvSpPr/>
          <p:nvPr/>
        </p:nvSpPr>
        <p:spPr>
          <a:xfrm>
            <a:off x="3703320" y="3767328"/>
            <a:ext cx="20299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4A4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考试季、毕业季压力集中爆发，陪伴却不在线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6071616" y="1298448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1554480"/>
            <a:ext cx="713232" cy="713232"/>
          </a:xfrm>
          <a:prstGeom prst="ellipse">
            <a:avLst/>
          </a:prstGeom>
          <a:solidFill>
            <a:srgbClr val="3E8E9E"/>
          </a:solidFill>
        </p:spPr>
      </p:sp>
      <p:sp>
        <p:nvSpPr>
          <p:cNvPr id="25" name="Text 23"/>
          <p:cNvSpPr/>
          <p:nvPr/>
        </p:nvSpPr>
        <p:spPr>
          <a:xfrm>
            <a:off x="6309360" y="155448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警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27648" y="2395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E8E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633472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学校发现滞后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327648" y="3246120"/>
            <a:ext cx="91440" cy="91440"/>
          </a:xfrm>
          <a:prstGeom prst="ellipse">
            <a:avLst/>
          </a:prstGeom>
          <a:solidFill>
            <a:srgbClr val="3E8E9E"/>
          </a:solidFill>
        </p:spPr>
      </p:sp>
      <p:sp>
        <p:nvSpPr>
          <p:cNvPr id="29" name="Text 27"/>
          <p:cNvSpPr/>
          <p:nvPr/>
        </p:nvSpPr>
        <p:spPr>
          <a:xfrm>
            <a:off x="6510528" y="3163824"/>
            <a:ext cx="20299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4A4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危机多在事后才被知晓，干预被动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6327648" y="3849624"/>
            <a:ext cx="91440" cy="91440"/>
          </a:xfrm>
          <a:prstGeom prst="ellipse">
            <a:avLst/>
          </a:prstGeom>
          <a:solidFill>
            <a:srgbClr val="3E8E9E"/>
          </a:solidFill>
        </p:spPr>
      </p:sp>
      <p:sp>
        <p:nvSpPr>
          <p:cNvPr id="31" name="Text 29"/>
          <p:cNvSpPr/>
          <p:nvPr/>
        </p:nvSpPr>
        <p:spPr>
          <a:xfrm>
            <a:off x="6510528" y="3767328"/>
            <a:ext cx="20299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4A47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院系缺少隐私友好的群体趋势感知与预警手段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75320" y="480974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A3B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75488"/>
          </a:xfrm>
          <a:prstGeom prst="roundRect">
            <a:avLst>
              <a:gd name="adj" fmla="val 25000"/>
            </a:avLst>
          </a:prstGeom>
          <a:solidFill>
            <a:srgbClr val="E07A5F"/>
          </a:solidFill>
        </p:spPr>
      </p:sp>
      <p:sp>
        <p:nvSpPr>
          <p:cNvPr id="3" name="Text 1"/>
          <p:cNvSpPr/>
          <p:nvPr/>
        </p:nvSpPr>
        <p:spPr>
          <a:xfrm>
            <a:off x="658368" y="3291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E8E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竞品分析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现有方案各有缺口，校园“预防—陪伴—转介—预警”仍是空白</a:t>
            </a:r>
            <a:endParaRPr lang="en-US" sz="2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188720"/>
          <a:ext cx="8229600" cy="3017520"/>
        </p:xfrm>
        <a:graphic>
          <a:graphicData uri="http://schemas.openxmlformats.org/drawingml/2006/table">
            <a:tbl>
              <a:tblPr/>
              <a:tblGrid>
                <a:gridCol w="1143000"/>
                <a:gridCol w="1737360"/>
                <a:gridCol w="1600200"/>
                <a:gridCol w="1691640"/>
                <a:gridCol w="205740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壹心理 / 简单心理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测测 App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学校线下咨询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本课题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86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2A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定位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3D5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付费咨询平台 + AI 倾诉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3D5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情感陪伴社区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3D5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校内专业免费咨询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5E4B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校园专属 AI 支持 + 校级预警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2A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使用成本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7A5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数百元/次，学生难承担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8E9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免费但偏娱乐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8E9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免费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8E9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免费、匿名、随时可用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2A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专业与安全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3D5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较专业，但与学校脱节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7A5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缺量表分级与危机干预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8E9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专业可信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5E4B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规范量表 + 危机强转介 12356/校中心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2A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全天候陪伴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3D5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 有边界，人工限时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03D5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有陪伴，内容泛化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7A5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受时间地点限制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5E4B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7×24 非诊断陪伴 + 情绪曲线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2A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校级风险感知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7A5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7A5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7A5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依赖主动求助，发现滞后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5E4B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去标识化聚合看板，干预前移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5E4B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20" dirty="0"/>
          </a:p>
        </p:txBody>
      </p:sp>
      <p:sp>
        <p:nvSpPr>
          <p:cNvPr id="5" name="Text 4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275320" y="480974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A3B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75488"/>
          </a:xfrm>
          <a:prstGeom prst="roundRect">
            <a:avLst>
              <a:gd name="adj" fmla="val 25000"/>
            </a:avLst>
          </a:prstGeom>
          <a:solidFill>
            <a:srgbClr val="E07A5F"/>
          </a:solidFill>
        </p:spPr>
      </p:sp>
      <p:sp>
        <p:nvSpPr>
          <p:cNvPr id="3" name="Text 1"/>
          <p:cNvSpPr/>
          <p:nvPr/>
        </p:nvSpPr>
        <p:spPr>
          <a:xfrm>
            <a:off x="658368" y="3291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E8E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产品创意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1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57200" y="1225296"/>
            <a:ext cx="2615184" cy="1517904"/>
          </a:xfrm>
          <a:prstGeom prst="roundRect">
            <a:avLst>
              <a:gd name="adj" fmla="val 5422"/>
            </a:avLst>
          </a:prstGeom>
          <a:solidFill>
            <a:srgbClr val="FBEAE6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457200" y="1225296"/>
            <a:ext cx="82296" cy="1517904"/>
          </a:xfrm>
          <a:prstGeom prst="roundRect">
            <a:avLst>
              <a:gd name="adj" fmla="val 44444"/>
            </a:avLst>
          </a:prstGeom>
          <a:solidFill>
            <a:srgbClr val="E07A5F"/>
          </a:solidFill>
        </p:spPr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676656" y="1408176"/>
            <a:ext cx="310896" cy="310896"/>
          </a:xfrm>
          <a:prstGeom prst="ellipse">
            <a:avLst/>
          </a:prstGeom>
          <a:solidFill>
            <a:srgbClr val="E07A5F"/>
          </a:solidFill>
        </p:spPr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676656" y="140817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1078992" y="1408176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非诊断 + 强转介</a:t>
            </a:r>
            <a:endParaRPr lang="en-US" sz="125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676656" y="1828800"/>
            <a:ext cx="22128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60" dirty="0">
                <a:solidFill>
                  <a:srgbClr val="514E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只做陪伴、科普与初筛，明确不下诊断；高危即转介专业热线与校中心。</a:t>
            </a:r>
            <a:endParaRPr lang="en-US" sz="96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3264408" y="1225296"/>
            <a:ext cx="2615184" cy="1517904"/>
          </a:xfrm>
          <a:prstGeom prst="roundRect">
            <a:avLst>
              <a:gd name="adj" fmla="val 5422"/>
            </a:avLst>
          </a:prstGeom>
          <a:solidFill>
            <a:srgbClr val="EEEBF7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3264408" y="1225296"/>
            <a:ext cx="82296" cy="1517904"/>
          </a:xfrm>
          <a:prstGeom prst="roundRect">
            <a:avLst>
              <a:gd name="adj" fmla="val 44444"/>
            </a:avLst>
          </a:prstGeom>
          <a:solidFill>
            <a:srgbClr val="5E4B8B"/>
          </a:solidFill>
        </p:spPr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3483864" y="1408176"/>
            <a:ext cx="310896" cy="310896"/>
          </a:xfrm>
          <a:prstGeom prst="ellipse">
            <a:avLst/>
          </a:prstGeom>
          <a:solidFill>
            <a:srgbClr val="5E4B8B"/>
          </a:solidFill>
        </p:spPr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3483864" y="140817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3886200" y="1408176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隐私匿名优先</a:t>
            </a:r>
            <a:endParaRPr lang="en-US" sz="125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3483864" y="1828800"/>
            <a:ext cx="22128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60" dirty="0">
                <a:solidFill>
                  <a:srgbClr val="514E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匿名注册、知情同意、数据加密、可注销；从设计上保护学生。</a:t>
            </a:r>
            <a:endParaRPr lang="en-US" sz="96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6071616" y="1225296"/>
            <a:ext cx="2615184" cy="1517904"/>
          </a:xfrm>
          <a:prstGeom prst="roundRect">
            <a:avLst>
              <a:gd name="adj" fmla="val 5422"/>
            </a:avLst>
          </a:prstGeom>
          <a:solidFill>
            <a:srgbClr val="E4F1F3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6071616" y="1225296"/>
            <a:ext cx="82296" cy="1517904"/>
          </a:xfrm>
          <a:prstGeom prst="roundRect">
            <a:avLst>
              <a:gd name="adj" fmla="val 44444"/>
            </a:avLst>
          </a:prstGeom>
          <a:solidFill>
            <a:srgbClr val="3E8E9E"/>
          </a:solidFill>
        </p:spPr>
      </p:sp>
      <p:sp>
        <p:nvSpPr>
          <p:cNvPr id="19" name="Shape 17"/>
          <p:cNvSpPr/>
          <p:nvPr>
            <p:custDataLst>
              <p:tags r:id="rId15"/>
            </p:custDataLst>
          </p:nvPr>
        </p:nvSpPr>
        <p:spPr>
          <a:xfrm>
            <a:off x="6291072" y="1408176"/>
            <a:ext cx="310896" cy="310896"/>
          </a:xfrm>
          <a:prstGeom prst="ellipse">
            <a:avLst/>
          </a:prstGeom>
          <a:solidFill>
            <a:srgbClr val="3E8E9E"/>
          </a:solidFill>
        </p:spPr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6291072" y="140817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>
            <p:custDataLst>
              <p:tags r:id="rId17"/>
            </p:custDataLst>
          </p:nvPr>
        </p:nvSpPr>
        <p:spPr>
          <a:xfrm>
            <a:off x="6693408" y="1408176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情绪曲线可视化</a:t>
            </a:r>
            <a:endParaRPr lang="en-US" sz="1250" dirty="0"/>
          </a:p>
        </p:txBody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6291072" y="1828800"/>
            <a:ext cx="22128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60" dirty="0">
                <a:solidFill>
                  <a:srgbClr val="514E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多模态日记经情感分析生成私密情绪曲线与关键词云，自我觉察更直观。</a:t>
            </a:r>
            <a:endParaRPr lang="en-US" sz="960" dirty="0"/>
          </a:p>
        </p:txBody>
      </p:sp>
      <p:sp>
        <p:nvSpPr>
          <p:cNvPr id="23" name="Shape 21"/>
          <p:cNvSpPr/>
          <p:nvPr>
            <p:custDataLst>
              <p:tags r:id="rId19"/>
            </p:custDataLst>
          </p:nvPr>
        </p:nvSpPr>
        <p:spPr>
          <a:xfrm>
            <a:off x="457200" y="2944368"/>
            <a:ext cx="2615184" cy="1517904"/>
          </a:xfrm>
          <a:prstGeom prst="roundRect">
            <a:avLst>
              <a:gd name="adj" fmla="val 5422"/>
            </a:avLst>
          </a:prstGeom>
          <a:solidFill>
            <a:srgbClr val="E7F4EC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24" name="Shape 22"/>
          <p:cNvSpPr/>
          <p:nvPr>
            <p:custDataLst>
              <p:tags r:id="rId20"/>
            </p:custDataLst>
          </p:nvPr>
        </p:nvSpPr>
        <p:spPr>
          <a:xfrm>
            <a:off x="457200" y="2944368"/>
            <a:ext cx="82296" cy="1517904"/>
          </a:xfrm>
          <a:prstGeom prst="roundRect">
            <a:avLst>
              <a:gd name="adj" fmla="val 44444"/>
            </a:avLst>
          </a:prstGeom>
          <a:solidFill>
            <a:srgbClr val="4C9A6A"/>
          </a:solidFill>
        </p:spPr>
      </p:sp>
      <p:sp>
        <p:nvSpPr>
          <p:cNvPr id="25" name="Shape 23"/>
          <p:cNvSpPr/>
          <p:nvPr>
            <p:custDataLst>
              <p:tags r:id="rId21"/>
            </p:custDataLst>
          </p:nvPr>
        </p:nvSpPr>
        <p:spPr>
          <a:xfrm>
            <a:off x="676656" y="3127248"/>
            <a:ext cx="310896" cy="310896"/>
          </a:xfrm>
          <a:prstGeom prst="ellipse">
            <a:avLst/>
          </a:prstGeom>
          <a:solidFill>
            <a:srgbClr val="4C9A6A"/>
          </a:solidFill>
        </p:spPr>
      </p:sp>
      <p:sp>
        <p:nvSpPr>
          <p:cNvPr id="26" name="Text 24"/>
          <p:cNvSpPr/>
          <p:nvPr>
            <p:custDataLst>
              <p:tags r:id="rId22"/>
            </p:custDataLst>
          </p:nvPr>
        </p:nvSpPr>
        <p:spPr>
          <a:xfrm>
            <a:off x="676656" y="31272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1078992" y="3127248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规范量表分级</a:t>
            </a:r>
            <a:endParaRPr lang="en-US" sz="1250" dirty="0"/>
          </a:p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676656" y="3547872"/>
            <a:ext cx="22128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60" dirty="0">
                <a:solidFill>
                  <a:srgbClr val="514E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自动计分与分级建议，结果可解释、可复核。</a:t>
            </a:r>
            <a:endParaRPr lang="en-US" sz="960" dirty="0"/>
          </a:p>
        </p:txBody>
      </p:sp>
      <p:sp>
        <p:nvSpPr>
          <p:cNvPr id="29" name="Shape 27"/>
          <p:cNvSpPr/>
          <p:nvPr>
            <p:custDataLst>
              <p:tags r:id="rId25"/>
            </p:custDataLst>
          </p:nvPr>
        </p:nvSpPr>
        <p:spPr>
          <a:xfrm>
            <a:off x="3264408" y="2944368"/>
            <a:ext cx="2615184" cy="1517904"/>
          </a:xfrm>
          <a:prstGeom prst="roundRect">
            <a:avLst>
              <a:gd name="adj" fmla="val 5422"/>
            </a:avLst>
          </a:prstGeom>
          <a:solidFill>
            <a:srgbClr val="F1EBF7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30" name="Shape 28"/>
          <p:cNvSpPr/>
          <p:nvPr>
            <p:custDataLst>
              <p:tags r:id="rId26"/>
            </p:custDataLst>
          </p:nvPr>
        </p:nvSpPr>
        <p:spPr>
          <a:xfrm>
            <a:off x="3264408" y="2944368"/>
            <a:ext cx="82296" cy="1517904"/>
          </a:xfrm>
          <a:prstGeom prst="roundRect">
            <a:avLst>
              <a:gd name="adj" fmla="val 44444"/>
            </a:avLst>
          </a:prstGeom>
          <a:solidFill>
            <a:srgbClr val="8E5AB0"/>
          </a:solidFill>
        </p:spPr>
      </p:sp>
      <p:sp>
        <p:nvSpPr>
          <p:cNvPr id="31" name="Shape 29"/>
          <p:cNvSpPr/>
          <p:nvPr>
            <p:custDataLst>
              <p:tags r:id="rId27"/>
            </p:custDataLst>
          </p:nvPr>
        </p:nvSpPr>
        <p:spPr>
          <a:xfrm>
            <a:off x="3483864" y="3127248"/>
            <a:ext cx="310896" cy="310896"/>
          </a:xfrm>
          <a:prstGeom prst="ellipse">
            <a:avLst/>
          </a:prstGeom>
          <a:solidFill>
            <a:srgbClr val="8E5AB0"/>
          </a:solidFill>
        </p:spPr>
      </p:sp>
      <p:sp>
        <p:nvSpPr>
          <p:cNvPr id="32" name="Text 30"/>
          <p:cNvSpPr/>
          <p:nvPr>
            <p:custDataLst>
              <p:tags r:id="rId28"/>
            </p:custDataLst>
          </p:nvPr>
        </p:nvSpPr>
        <p:spPr>
          <a:xfrm>
            <a:off x="3483864" y="31272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>
            <p:custDataLst>
              <p:tags r:id="rId29"/>
            </p:custDataLst>
          </p:nvPr>
        </p:nvSpPr>
        <p:spPr>
          <a:xfrm>
            <a:off x="3886200" y="3127248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院系匿名聚合看板</a:t>
            </a:r>
            <a:endParaRPr lang="en-US" sz="1250" dirty="0"/>
          </a:p>
        </p:txBody>
      </p:sp>
      <p:sp>
        <p:nvSpPr>
          <p:cNvPr id="34" name="Text 32"/>
          <p:cNvSpPr/>
          <p:nvPr>
            <p:custDataLst>
              <p:tags r:id="rId30"/>
            </p:custDataLst>
          </p:nvPr>
        </p:nvSpPr>
        <p:spPr>
          <a:xfrm>
            <a:off x="3483864" y="3547872"/>
            <a:ext cx="22128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60" dirty="0">
                <a:solidFill>
                  <a:srgbClr val="514E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去标识化群体趋势热力，帮助学校把干预前移，且不触碰个人内容。</a:t>
            </a:r>
            <a:endParaRPr lang="en-US" sz="960" dirty="0"/>
          </a:p>
        </p:txBody>
      </p:sp>
      <p:sp>
        <p:nvSpPr>
          <p:cNvPr id="35" name="Shape 33"/>
          <p:cNvSpPr/>
          <p:nvPr>
            <p:custDataLst>
              <p:tags r:id="rId31"/>
            </p:custDataLst>
          </p:nvPr>
        </p:nvSpPr>
        <p:spPr>
          <a:xfrm>
            <a:off x="6071616" y="2944368"/>
            <a:ext cx="2615184" cy="1517904"/>
          </a:xfrm>
          <a:prstGeom prst="roundRect">
            <a:avLst>
              <a:gd name="adj" fmla="val 5422"/>
            </a:avLst>
          </a:prstGeom>
          <a:solidFill>
            <a:srgbClr val="FBF1E6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36" name="Shape 34"/>
          <p:cNvSpPr/>
          <p:nvPr>
            <p:custDataLst>
              <p:tags r:id="rId32"/>
            </p:custDataLst>
          </p:nvPr>
        </p:nvSpPr>
        <p:spPr>
          <a:xfrm>
            <a:off x="6071616" y="2944368"/>
            <a:ext cx="82296" cy="1517904"/>
          </a:xfrm>
          <a:prstGeom prst="roundRect">
            <a:avLst>
              <a:gd name="adj" fmla="val 44444"/>
            </a:avLst>
          </a:prstGeom>
          <a:solidFill>
            <a:srgbClr val="E8A87C"/>
          </a:solidFill>
        </p:spPr>
      </p:sp>
      <p:sp>
        <p:nvSpPr>
          <p:cNvPr id="37" name="Shape 35"/>
          <p:cNvSpPr/>
          <p:nvPr>
            <p:custDataLst>
              <p:tags r:id="rId33"/>
            </p:custDataLst>
          </p:nvPr>
        </p:nvSpPr>
        <p:spPr>
          <a:xfrm>
            <a:off x="6291072" y="3127248"/>
            <a:ext cx="310896" cy="310896"/>
          </a:xfrm>
          <a:prstGeom prst="ellipse">
            <a:avLst/>
          </a:prstGeom>
          <a:solidFill>
            <a:srgbClr val="E8A87C"/>
          </a:solidFill>
        </p:spPr>
      </p:sp>
      <p:sp>
        <p:nvSpPr>
          <p:cNvPr id="38" name="Text 36"/>
          <p:cNvSpPr/>
          <p:nvPr>
            <p:custDataLst>
              <p:tags r:id="rId34"/>
            </p:custDataLst>
          </p:nvPr>
        </p:nvSpPr>
        <p:spPr>
          <a:xfrm>
            <a:off x="6291072" y="31272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>
            <p:custDataLst>
              <p:tags r:id="rId35"/>
            </p:custDataLst>
          </p:nvPr>
        </p:nvSpPr>
        <p:spPr>
          <a:xfrm>
            <a:off x="6693408" y="3127248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内容安全审核</a:t>
            </a:r>
            <a:endParaRPr lang="en-US" sz="1250" dirty="0"/>
          </a:p>
        </p:txBody>
      </p:sp>
      <p:sp>
        <p:nvSpPr>
          <p:cNvPr id="40" name="Text 38"/>
          <p:cNvSpPr/>
          <p:nvPr>
            <p:custDataLst>
              <p:tags r:id="rId36"/>
            </p:custDataLst>
          </p:nvPr>
        </p:nvSpPr>
        <p:spPr>
          <a:xfrm>
            <a:off x="6291072" y="3547872"/>
            <a:ext cx="2212848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60" dirty="0">
                <a:solidFill>
                  <a:srgbClr val="514E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互助社区实时审核与关键词过滤，拦截风险内容，</a:t>
            </a:r>
            <a:r>
              <a:rPr lang="zh-CN" altLang="en-US" sz="960" dirty="0">
                <a:solidFill>
                  <a:srgbClr val="514E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减少负能量传播</a:t>
            </a:r>
            <a:endParaRPr lang="zh-CN" altLang="en-US" sz="960" dirty="0">
              <a:solidFill>
                <a:srgbClr val="514E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75320" y="480974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A3B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75488"/>
          </a:xfrm>
          <a:prstGeom prst="roundRect">
            <a:avLst>
              <a:gd name="adj" fmla="val 25000"/>
            </a:avLst>
          </a:prstGeom>
          <a:solidFill>
            <a:srgbClr val="E07A5F"/>
          </a:solidFill>
        </p:spPr>
      </p:sp>
      <p:sp>
        <p:nvSpPr>
          <p:cNvPr id="3" name="Text 1"/>
          <p:cNvSpPr/>
          <p:nvPr/>
        </p:nvSpPr>
        <p:spPr>
          <a:xfrm>
            <a:off x="658368" y="3291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E8E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系统设计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系统组成与总体架构：双端 + 服务层 + AI/数据层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335024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5E4B8B"/>
          </a:solidFill>
        </p:spPr>
      </p:sp>
      <p:sp>
        <p:nvSpPr>
          <p:cNvPr id="7" name="Text 5"/>
          <p:cNvSpPr/>
          <p:nvPr/>
        </p:nvSpPr>
        <p:spPr>
          <a:xfrm>
            <a:off x="621792" y="1335024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55648" y="1335024"/>
            <a:ext cx="6675120" cy="274320"/>
          </a:xfrm>
          <a:prstGeom prst="roundRect">
            <a:avLst>
              <a:gd name="adj" fmla="val 16667"/>
            </a:avLst>
          </a:prstGeom>
          <a:solidFill>
            <a:srgbClr val="EEEBF7"/>
          </a:solidFill>
          <a:ln w="9525">
            <a:solidFill>
              <a:srgbClr val="D8D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1335024"/>
            <a:ext cx="6446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443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学生端：微信小程序 / Android（情绪日记 · AI 倾诉 · 量表 · 社区）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1755648" y="1682496"/>
            <a:ext cx="6675120" cy="274320"/>
          </a:xfrm>
          <a:prstGeom prst="roundRect">
            <a:avLst>
              <a:gd name="adj" fmla="val 16667"/>
            </a:avLst>
          </a:prstGeom>
          <a:solidFill>
            <a:srgbClr val="EEEBF7"/>
          </a:solidFill>
          <a:ln w="9525">
            <a:solidFill>
              <a:srgbClr val="D8D0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01952" y="1682496"/>
            <a:ext cx="6446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443A7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心理中心/教师端：Web 风险看板（匿名聚合趋势 · 预警 · 内容管理）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2322576"/>
            <a:ext cx="960120" cy="621792"/>
          </a:xfrm>
          <a:prstGeom prst="roundRect">
            <a:avLst>
              <a:gd name="adj" fmla="val 8824"/>
            </a:avLst>
          </a:prstGeom>
          <a:solidFill>
            <a:srgbClr val="3E8E9E"/>
          </a:solidFill>
        </p:spPr>
      </p:sp>
      <p:sp>
        <p:nvSpPr>
          <p:cNvPr id="14" name="Text 12"/>
          <p:cNvSpPr/>
          <p:nvPr/>
        </p:nvSpPr>
        <p:spPr>
          <a:xfrm>
            <a:off x="621792" y="2322576"/>
            <a:ext cx="96012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应用服务层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55648" y="2414016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E4F1F3"/>
          </a:solidFill>
          <a:ln w="9525">
            <a:solidFill>
              <a:srgbClr val="BFDD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92224" y="2414016"/>
            <a:ext cx="84124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F5E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情感分析服务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743200" y="2414016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E4F1F3"/>
          </a:solidFill>
          <a:ln w="9525">
            <a:solidFill>
              <a:srgbClr val="BFDD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79776" y="2414016"/>
            <a:ext cx="84124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F5E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量表评分引擎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730752" y="2414016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E4F1F3"/>
          </a:solidFill>
          <a:ln w="9525">
            <a:solidFill>
              <a:srgbClr val="BFDD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2414016"/>
            <a:ext cx="84124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F5E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对话服务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718304" y="2414016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E4F1F3"/>
          </a:solidFill>
          <a:ln w="9525">
            <a:solidFill>
              <a:srgbClr val="BFDD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414016"/>
            <a:ext cx="84124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F5E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内容安全审核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705856" y="2414016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E4F1F3"/>
          </a:solidFill>
          <a:ln w="9525">
            <a:solidFill>
              <a:srgbClr val="BFDD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42432" y="2414016"/>
            <a:ext cx="84124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F5E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危机转介引擎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693408" y="2414016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E4F1F3"/>
          </a:solidFill>
          <a:ln w="9525">
            <a:solidFill>
              <a:srgbClr val="BFDD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9984" y="2414016"/>
            <a:ext cx="84124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F5E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聚合统计服务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680960" y="2414016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E4F1F3"/>
          </a:solidFill>
          <a:ln w="9525">
            <a:solidFill>
              <a:srgbClr val="BFDD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7536" y="2414016"/>
            <a:ext cx="84124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F5E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消息推送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57200" y="3236976"/>
            <a:ext cx="82296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" y="338328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4C9A6A"/>
          </a:solidFill>
        </p:spPr>
      </p:sp>
      <p:sp>
        <p:nvSpPr>
          <p:cNvPr id="31" name="Text 29"/>
          <p:cNvSpPr/>
          <p:nvPr/>
        </p:nvSpPr>
        <p:spPr>
          <a:xfrm>
            <a:off x="621792" y="338328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与数据层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755648" y="3383280"/>
            <a:ext cx="6675120" cy="274320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9525">
            <a:solidFill>
              <a:srgbClr val="C6E4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01952" y="3383280"/>
            <a:ext cx="6446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2F60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 API / 开源模型（Qwen 等）+ Prompt 安全护栏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1755648" y="3730752"/>
            <a:ext cx="6675120" cy="274320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9525">
            <a:solidFill>
              <a:srgbClr val="C6E4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01952" y="3730752"/>
            <a:ext cx="6446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2F60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心理科普知识库 · 向量库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1755648" y="4078224"/>
            <a:ext cx="6675120" cy="274320"/>
          </a:xfrm>
          <a:prstGeom prst="roundRect">
            <a:avLst>
              <a:gd name="adj" fmla="val 16667"/>
            </a:avLst>
          </a:prstGeom>
          <a:solidFill>
            <a:srgbClr val="E7F4EC"/>
          </a:solidFill>
          <a:ln w="9525">
            <a:solidFill>
              <a:srgbClr val="C6E4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01952" y="4078224"/>
            <a:ext cx="6446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2F60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业务库 · Redis 缓存 · 对象存储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713232" y="4242816"/>
            <a:ext cx="77266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75320" y="480974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A3B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75488"/>
          </a:xfrm>
          <a:prstGeom prst="roundRect">
            <a:avLst>
              <a:gd name="adj" fmla="val 25000"/>
            </a:avLst>
          </a:prstGeom>
          <a:solidFill>
            <a:srgbClr val="E07A5F"/>
          </a:solidFill>
        </p:spPr>
      </p:sp>
      <p:sp>
        <p:nvSpPr>
          <p:cNvPr id="3" name="Text 1"/>
          <p:cNvSpPr/>
          <p:nvPr/>
        </p:nvSpPr>
        <p:spPr>
          <a:xfrm>
            <a:off x="658368" y="3291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E8E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系统设计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核心功能需求：功能点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92224" y="1371600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3504" y="17556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" y="2048256"/>
            <a:ext cx="17007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451227" y="1207008"/>
            <a:ext cx="197510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88336" y="1353312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5E4B8B"/>
          </a:solidFill>
        </p:spPr>
        <p:txBody>
          <a:bodyPr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688336" y="1353312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/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77056" y="1371600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88336" y="17556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量表自评分级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88336" y="2048256"/>
            <a:ext cx="17007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zh-CN" altLang="en-US" sz="880" dirty="0">
                <a:solidFill>
                  <a:srgbClr val="5B58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心理调研自评给出等级分数和</a:t>
            </a:r>
            <a:r>
              <a:rPr lang="en-US" sz="880" dirty="0">
                <a:solidFill>
                  <a:srgbClr val="5B58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解读与建议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626864" y="1207008"/>
            <a:ext cx="197510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73168" y="1353312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3E8E9E"/>
          </a:solidFill>
        </p:spPr>
      </p:sp>
      <p:sp>
        <p:nvSpPr>
          <p:cNvPr id="21" name="Text 19"/>
          <p:cNvSpPr/>
          <p:nvPr/>
        </p:nvSpPr>
        <p:spPr>
          <a:xfrm>
            <a:off x="4773168" y="1353312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/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73168" y="17556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陪伴倾诉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73168" y="2048256"/>
            <a:ext cx="17007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880" dirty="0">
                <a:solidFill>
                  <a:srgbClr val="5B58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共情对话</a:t>
            </a:r>
            <a:r>
              <a:rPr lang="zh-CN" altLang="en-US" sz="880" dirty="0">
                <a:solidFill>
                  <a:srgbClr val="5B58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，舒缓情绪</a:t>
            </a:r>
            <a:endParaRPr lang="zh-CN" altLang="en-US" sz="880" dirty="0">
              <a:solidFill>
                <a:srgbClr val="5B58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711696" y="1207008"/>
            <a:ext cx="197510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1353312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E07A5F"/>
          </a:solidFill>
        </p:spPr>
        <p:txBody>
          <a:bodyPr/>
          <a:p>
            <a:endParaRPr lang="en-US" altLang="zh-CN"/>
          </a:p>
        </p:txBody>
      </p:sp>
      <p:sp>
        <p:nvSpPr>
          <p:cNvPr id="28" name="Text 26"/>
          <p:cNvSpPr/>
          <p:nvPr/>
        </p:nvSpPr>
        <p:spPr>
          <a:xfrm>
            <a:off x="6858000" y="1353312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/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0" y="1371600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17556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危机识别转介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58000" y="2048256"/>
            <a:ext cx="17007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880" dirty="0">
                <a:solidFill>
                  <a:srgbClr val="5B58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高危表达弹窗，一键拨 12356 / 预约校心理中心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57200" y="2871216"/>
            <a:ext cx="197510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" y="3017520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3E8E9E"/>
          </a:solidFill>
        </p:spPr>
        <p:txBody>
          <a:bodyPr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03504" y="3017520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/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792224" y="3035808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3504" y="34198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匿名互助社区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03504" y="3712464"/>
            <a:ext cx="17007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880" dirty="0">
                <a:solidFill>
                  <a:srgbClr val="5B58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安全审核 + 关键词过滤，同伴支持与风险拦截</a:t>
            </a:r>
            <a:r>
              <a:rPr lang="zh-CN" altLang="en-US" sz="880" dirty="0">
                <a:solidFill>
                  <a:srgbClr val="5B58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，专业老师回答或匿名学生分享经验</a:t>
            </a:r>
            <a:endParaRPr lang="zh-CN" altLang="en-US" sz="880" dirty="0">
              <a:solidFill>
                <a:srgbClr val="5B58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542032" y="2871216"/>
            <a:ext cx="197510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688336" y="3017520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4C9A6A"/>
          </a:solidFill>
        </p:spPr>
      </p:sp>
      <p:sp>
        <p:nvSpPr>
          <p:cNvPr id="42" name="Text 40"/>
          <p:cNvSpPr/>
          <p:nvPr/>
        </p:nvSpPr>
        <p:spPr>
          <a:xfrm>
            <a:off x="2688336" y="3017520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/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877056" y="3035808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688336" y="34198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线下预约</a:t>
            </a:r>
            <a:endParaRPr lang="zh-CN" altLang="en-US" sz="1150" b="1" dirty="0">
              <a:solidFill>
                <a:srgbClr val="2C2A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688336" y="3712464"/>
            <a:ext cx="17007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zh-CN" altLang="en-US" sz="880" dirty="0"/>
              <a:t>提供一个本校心理咨询老师和学生对接的平台</a:t>
            </a:r>
            <a:endParaRPr lang="zh-CN" alt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4773168" y="3017520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61888" y="3035808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73168" y="3419856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773168" y="3712464"/>
            <a:ext cx="17007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4626356" y="2871216"/>
            <a:ext cx="197510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73295" y="3035935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E8A87C"/>
          </a:solidFill>
        </p:spPr>
        <p:txBody>
          <a:bodyPr/>
          <a:p>
            <a:endParaRPr lang="en-US" altLang="zh-CN"/>
          </a:p>
        </p:txBody>
      </p:sp>
      <p:sp>
        <p:nvSpPr>
          <p:cNvPr id="56" name="Text 54"/>
          <p:cNvSpPr/>
          <p:nvPr/>
        </p:nvSpPr>
        <p:spPr>
          <a:xfrm>
            <a:off x="6858000" y="3017520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F7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773295" y="3346831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正念训练与科普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737100" y="3621659"/>
            <a:ext cx="17007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880" dirty="0">
                <a:solidFill>
                  <a:srgbClr val="5B58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3–5 分钟呼吸/正念练习，</a:t>
            </a:r>
            <a:r>
              <a:rPr lang="zh-CN" altLang="en-US" sz="880" dirty="0">
                <a:solidFill>
                  <a:srgbClr val="5B58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缓解压力情绪的科普动作等，例如毕业工作面试，答辩</a:t>
            </a:r>
            <a:endParaRPr lang="zh-CN" altLang="en-US" sz="880" dirty="0">
              <a:solidFill>
                <a:srgbClr val="5B58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275320" y="480974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A3B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75488"/>
          </a:xfrm>
          <a:prstGeom prst="roundRect">
            <a:avLst>
              <a:gd name="adj" fmla="val 25000"/>
            </a:avLst>
          </a:prstGeom>
          <a:solidFill>
            <a:srgbClr val="E07A5F"/>
          </a:solidFill>
        </p:spPr>
      </p:sp>
      <p:sp>
        <p:nvSpPr>
          <p:cNvPr id="3" name="Text 1"/>
          <p:cNvSpPr/>
          <p:nvPr/>
        </p:nvSpPr>
        <p:spPr>
          <a:xfrm>
            <a:off x="658368" y="3291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E8E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系统设计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需求用例模型（用例图）：学生端 + 心理中心端两类角色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874520" y="1152144"/>
            <a:ext cx="5394960" cy="3328416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9050">
            <a:solidFill>
              <a:srgbClr val="5E4B8B"/>
            </a:solidFill>
            <a:prstDash val="solid"/>
          </a:ln>
          <a:effectLst>
            <a:outerShdw blurRad="76200" dist="25400" dir="5400000" algn="bl" rotWithShape="0">
              <a:srgbClr val="B9B2D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46120" y="1024128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5E4B8B"/>
          </a:solidFill>
        </p:spPr>
      </p:sp>
      <p:sp>
        <p:nvSpPr>
          <p:cNvPr id="7" name="Text 5"/>
          <p:cNvSpPr/>
          <p:nvPr/>
        </p:nvSpPr>
        <p:spPr>
          <a:xfrm>
            <a:off x="3246120" y="102412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2606040"/>
            <a:ext cx="237744" cy="23774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5E4B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843784"/>
            <a:ext cx="0" cy="310896"/>
          </a:xfrm>
          <a:prstGeom prst="line">
            <a:avLst/>
          </a:prstGeom>
          <a:noFill/>
          <a:ln w="20320">
            <a:solidFill>
              <a:srgbClr val="5E4B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2953512"/>
            <a:ext cx="329184" cy="0"/>
          </a:xfrm>
          <a:prstGeom prst="line">
            <a:avLst/>
          </a:prstGeom>
          <a:noFill/>
          <a:ln w="20320">
            <a:solidFill>
              <a:srgbClr val="5E4B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3720000">
            <a:off x="813816" y="3154680"/>
            <a:ext cx="146304" cy="219456"/>
          </a:xfrm>
          <a:prstGeom prst="line">
            <a:avLst/>
          </a:prstGeom>
          <a:noFill/>
          <a:ln w="20320">
            <a:solidFill>
              <a:srgbClr val="5E4B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154680"/>
            <a:ext cx="146304" cy="219456"/>
          </a:xfrm>
          <a:prstGeom prst="line">
            <a:avLst/>
          </a:prstGeom>
          <a:noFill/>
          <a:ln w="20320">
            <a:solidFill>
              <a:srgbClr val="5E4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4107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4B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5008" y="2606040"/>
            <a:ext cx="237744" cy="23774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3E8E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2843784"/>
            <a:ext cx="0" cy="310896"/>
          </a:xfrm>
          <a:prstGeom prst="line">
            <a:avLst/>
          </a:prstGeom>
          <a:noFill/>
          <a:ln w="20320">
            <a:solidFill>
              <a:srgbClr val="3E8E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9288" y="2953512"/>
            <a:ext cx="329184" cy="0"/>
          </a:xfrm>
          <a:prstGeom prst="line">
            <a:avLst/>
          </a:prstGeom>
          <a:noFill/>
          <a:ln w="20320">
            <a:solidFill>
              <a:srgbClr val="3E8E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4020000">
            <a:off x="8037576" y="3154680"/>
            <a:ext cx="146304" cy="219456"/>
          </a:xfrm>
          <a:prstGeom prst="line">
            <a:avLst/>
          </a:prstGeom>
          <a:noFill/>
          <a:ln w="20320">
            <a:solidFill>
              <a:srgbClr val="3E8E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3154680"/>
            <a:ext cx="146304" cy="219456"/>
          </a:xfrm>
          <a:prstGeom prst="line">
            <a:avLst/>
          </a:prstGeom>
          <a:noFill/>
          <a:ln w="20320">
            <a:solidFill>
              <a:srgbClr val="3E8E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34107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8E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心理中心/教师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21408" y="1298448"/>
            <a:ext cx="1755648" cy="493776"/>
          </a:xfrm>
          <a:prstGeom prst="ellipse">
            <a:avLst/>
          </a:prstGeom>
          <a:solidFill>
            <a:srgbClr val="EEEBF7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76272" y="1298448"/>
            <a:ext cx="16459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记录情绪日记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 rot="4500000">
            <a:off x="1133856" y="1545336"/>
            <a:ext cx="987552" cy="1289304"/>
          </a:xfrm>
          <a:prstGeom prst="line">
            <a:avLst/>
          </a:prstGeom>
          <a:noFill/>
          <a:ln w="9525">
            <a:solidFill>
              <a:srgbClr val="B9B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21408" y="1915668"/>
            <a:ext cx="1755648" cy="493776"/>
          </a:xfrm>
          <a:prstGeom prst="ellipse">
            <a:avLst/>
          </a:prstGeom>
          <a:solidFill>
            <a:srgbClr val="EEEBF7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76272" y="1915668"/>
            <a:ext cx="16459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陪伴倾诉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 rot="6840000">
            <a:off x="1133856" y="2162556"/>
            <a:ext cx="987552" cy="672084"/>
          </a:xfrm>
          <a:prstGeom prst="line">
            <a:avLst/>
          </a:prstGeom>
          <a:noFill/>
          <a:ln w="9525">
            <a:solidFill>
              <a:srgbClr val="B9B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21408" y="2532888"/>
            <a:ext cx="1755648" cy="493776"/>
          </a:xfrm>
          <a:prstGeom prst="ellipse">
            <a:avLst/>
          </a:prstGeom>
          <a:solidFill>
            <a:srgbClr val="EEEBF7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76272" y="2532888"/>
            <a:ext cx="16459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完成量表自评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1133856" y="2779776"/>
            <a:ext cx="987552" cy="54864"/>
          </a:xfrm>
          <a:prstGeom prst="line">
            <a:avLst/>
          </a:prstGeom>
          <a:noFill/>
          <a:ln w="9525">
            <a:solidFill>
              <a:srgbClr val="B9B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21408" y="3150108"/>
            <a:ext cx="1755648" cy="493776"/>
          </a:xfrm>
          <a:prstGeom prst="ellipse">
            <a:avLst/>
          </a:prstGeom>
          <a:solidFill>
            <a:srgbClr val="EEEBF7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76272" y="3150108"/>
            <a:ext cx="16459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匿名社区互助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1133856" y="2834640"/>
            <a:ext cx="987552" cy="562356"/>
          </a:xfrm>
          <a:prstGeom prst="line">
            <a:avLst/>
          </a:prstGeom>
          <a:noFill/>
          <a:ln w="9525">
            <a:solidFill>
              <a:srgbClr val="B9B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21408" y="3767328"/>
            <a:ext cx="1755648" cy="493776"/>
          </a:xfrm>
          <a:prstGeom prst="ellipse">
            <a:avLst/>
          </a:prstGeom>
          <a:solidFill>
            <a:srgbClr val="EEEBF7"/>
          </a:solidFill>
          <a:ln w="12700">
            <a:solidFill>
              <a:srgbClr val="5E4B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76272" y="3767328"/>
            <a:ext cx="16459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查询资源/预约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1133856" y="2834640"/>
            <a:ext cx="987552" cy="1179576"/>
          </a:xfrm>
          <a:prstGeom prst="line">
            <a:avLst/>
          </a:prstGeom>
          <a:noFill/>
          <a:ln w="9525">
            <a:solidFill>
              <a:srgbClr val="B9B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30368" y="1536192"/>
            <a:ext cx="1783080" cy="493776"/>
          </a:xfrm>
          <a:prstGeom prst="ellipse">
            <a:avLst/>
          </a:prstGeom>
          <a:solidFill>
            <a:srgbClr val="E4F1F3"/>
          </a:solidFill>
          <a:ln w="12700">
            <a:solidFill>
              <a:srgbClr val="3E8E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5232" y="1536192"/>
            <a:ext cx="167335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查看聚合风险看板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7013448" y="1783080"/>
            <a:ext cx="1014984" cy="1051560"/>
          </a:xfrm>
          <a:prstGeom prst="line">
            <a:avLst/>
          </a:prstGeom>
          <a:noFill/>
          <a:ln w="9525">
            <a:solidFill>
              <a:srgbClr val="9CC6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30368" y="2176272"/>
            <a:ext cx="1783080" cy="493776"/>
          </a:xfrm>
          <a:prstGeom prst="ellipse">
            <a:avLst/>
          </a:prstGeom>
          <a:solidFill>
            <a:srgbClr val="E4F1F3"/>
          </a:solidFill>
          <a:ln w="12700">
            <a:solidFill>
              <a:srgbClr val="3E8E9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85232" y="2176272"/>
            <a:ext cx="167335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处置预警与转介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7013448" y="2423160"/>
            <a:ext cx="1014984" cy="411480"/>
          </a:xfrm>
          <a:prstGeom prst="line">
            <a:avLst/>
          </a:prstGeom>
          <a:noFill/>
          <a:ln w="9525">
            <a:solidFill>
              <a:srgbClr val="9CC6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30368" y="2816352"/>
            <a:ext cx="1783080" cy="493776"/>
          </a:xfrm>
          <a:prstGeom prst="ellipse">
            <a:avLst/>
          </a:prstGeom>
          <a:solidFill>
            <a:srgbClr val="E4F1F3"/>
          </a:solidFill>
          <a:ln w="12700">
            <a:solidFill>
              <a:srgbClr val="3E8E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85232" y="2816352"/>
            <a:ext cx="167335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社区内容审核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 rot="20100000">
            <a:off x="7013448" y="2834640"/>
            <a:ext cx="1014984" cy="228600"/>
          </a:xfrm>
          <a:prstGeom prst="line">
            <a:avLst/>
          </a:prstGeom>
          <a:noFill/>
          <a:ln w="9525">
            <a:solidFill>
              <a:srgbClr val="9CC6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30368" y="3456432"/>
            <a:ext cx="1783080" cy="493776"/>
          </a:xfrm>
          <a:prstGeom prst="ellipse">
            <a:avLst/>
          </a:prstGeom>
          <a:solidFill>
            <a:srgbClr val="E4F1F3"/>
          </a:solidFill>
          <a:ln w="12700">
            <a:solidFill>
              <a:srgbClr val="3E8E9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85232" y="3456432"/>
            <a:ext cx="167335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科普内容推送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 rot="6060000">
            <a:off x="7013448" y="2834640"/>
            <a:ext cx="1014984" cy="868680"/>
          </a:xfrm>
          <a:prstGeom prst="line">
            <a:avLst/>
          </a:prstGeom>
          <a:noFill/>
          <a:ln w="9525">
            <a:solidFill>
              <a:srgbClr val="9CC6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03120" y="4590288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60" dirty="0"/>
          </a:p>
        </p:txBody>
      </p:sp>
      <p:sp>
        <p:nvSpPr>
          <p:cNvPr id="48" name="Text 46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275320" y="480974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A3B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75488"/>
          </a:xfrm>
          <a:prstGeom prst="roundRect">
            <a:avLst>
              <a:gd name="adj" fmla="val 25000"/>
            </a:avLst>
          </a:prstGeom>
          <a:solidFill>
            <a:srgbClr val="E07A5F"/>
          </a:solidFill>
        </p:spPr>
      </p:sp>
      <p:sp>
        <p:nvSpPr>
          <p:cNvPr id="3" name="Text 1"/>
          <p:cNvSpPr/>
          <p:nvPr/>
        </p:nvSpPr>
        <p:spPr>
          <a:xfrm>
            <a:off x="658368" y="3291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E8E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技术选型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初步技术选型：成熟栈为主，AI 能力 API 与开源并行</a:t>
            </a:r>
            <a:endParaRPr lang="en-US" sz="21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57200" y="1243584"/>
            <a:ext cx="1975104" cy="30175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457200" y="1243584"/>
            <a:ext cx="1975104" cy="512064"/>
          </a:xfrm>
          <a:prstGeom prst="roundRect">
            <a:avLst>
              <a:gd name="adj" fmla="val 16071"/>
            </a:avLst>
          </a:prstGeom>
          <a:solidFill>
            <a:srgbClr val="5E4B8B"/>
          </a:solidFill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457200" y="1243584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学生端</a:t>
            </a:r>
            <a:endParaRPr lang="en-US" sz="1300" dirty="0"/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640080" y="2002536"/>
            <a:ext cx="82296" cy="82296"/>
          </a:xfrm>
          <a:prstGeom prst="ellipse">
            <a:avLst/>
          </a:prstGeom>
          <a:solidFill>
            <a:srgbClr val="5E4B8B"/>
          </a:solidFill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804672" y="1920240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 dirty="0">
                <a:solidFill>
                  <a:srgbClr val="45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微信小程序（主）/ Android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04672" y="2468880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804672" y="3017520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804672" y="3566160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960" dirty="0"/>
          </a:p>
        </p:txBody>
      </p:sp>
      <p:sp>
        <p:nvSpPr>
          <p:cNvPr id="16" name="Shape 14"/>
          <p:cNvSpPr/>
          <p:nvPr>
            <p:custDataLst>
              <p:tags r:id="rId6"/>
            </p:custDataLst>
          </p:nvPr>
        </p:nvSpPr>
        <p:spPr>
          <a:xfrm>
            <a:off x="2542032" y="1243584"/>
            <a:ext cx="1975104" cy="30175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7" name="Shape 15"/>
          <p:cNvSpPr/>
          <p:nvPr>
            <p:custDataLst>
              <p:tags r:id="rId7"/>
            </p:custDataLst>
          </p:nvPr>
        </p:nvSpPr>
        <p:spPr>
          <a:xfrm>
            <a:off x="2542032" y="1243584"/>
            <a:ext cx="1975104" cy="512064"/>
          </a:xfrm>
          <a:prstGeom prst="roundRect">
            <a:avLst>
              <a:gd name="adj" fmla="val 16071"/>
            </a:avLst>
          </a:prstGeom>
          <a:solidFill>
            <a:srgbClr val="3E8E9E"/>
          </a:solidFill>
        </p:spPr>
      </p:sp>
      <p:sp>
        <p:nvSpPr>
          <p:cNvPr id="18" name="Text 16"/>
          <p:cNvSpPr/>
          <p:nvPr>
            <p:custDataLst>
              <p:tags r:id="rId8"/>
            </p:custDataLst>
          </p:nvPr>
        </p:nvSpPr>
        <p:spPr>
          <a:xfrm>
            <a:off x="2542032" y="1243584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教师端</a:t>
            </a:r>
            <a:endParaRPr lang="en-US" sz="1300" dirty="0"/>
          </a:p>
        </p:txBody>
      </p:sp>
      <p:sp>
        <p:nvSpPr>
          <p:cNvPr id="19" name="Shape 17"/>
          <p:cNvSpPr/>
          <p:nvPr>
            <p:custDataLst>
              <p:tags r:id="rId9"/>
            </p:custDataLst>
          </p:nvPr>
        </p:nvSpPr>
        <p:spPr>
          <a:xfrm>
            <a:off x="2724912" y="2002536"/>
            <a:ext cx="82296" cy="82296"/>
          </a:xfrm>
          <a:prstGeom prst="ellipse">
            <a:avLst/>
          </a:prstGeom>
          <a:solidFill>
            <a:srgbClr val="3E8E9E"/>
          </a:solidFill>
        </p:spPr>
      </p:sp>
      <p:sp>
        <p:nvSpPr>
          <p:cNvPr id="20" name="Text 18"/>
          <p:cNvSpPr/>
          <p:nvPr>
            <p:custDataLst>
              <p:tags r:id="rId10"/>
            </p:custDataLst>
          </p:nvPr>
        </p:nvSpPr>
        <p:spPr>
          <a:xfrm>
            <a:off x="2889504" y="1920240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 dirty="0">
                <a:solidFill>
                  <a:srgbClr val="45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3 + Element Plus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2889504" y="2468880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2889504" y="3017520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2889504" y="3566160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960" dirty="0"/>
          </a:p>
        </p:txBody>
      </p:sp>
      <p:sp>
        <p:nvSpPr>
          <p:cNvPr id="27" name="Shape 25"/>
          <p:cNvSpPr/>
          <p:nvPr>
            <p:custDataLst>
              <p:tags r:id="rId11"/>
            </p:custDataLst>
          </p:nvPr>
        </p:nvSpPr>
        <p:spPr>
          <a:xfrm>
            <a:off x="4626864" y="1243584"/>
            <a:ext cx="1975104" cy="30175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28" name="Shape 26"/>
          <p:cNvSpPr/>
          <p:nvPr>
            <p:custDataLst>
              <p:tags r:id="rId12"/>
            </p:custDataLst>
          </p:nvPr>
        </p:nvSpPr>
        <p:spPr>
          <a:xfrm>
            <a:off x="4626864" y="1243584"/>
            <a:ext cx="1975104" cy="512064"/>
          </a:xfrm>
          <a:prstGeom prst="roundRect">
            <a:avLst>
              <a:gd name="adj" fmla="val 16071"/>
            </a:avLst>
          </a:prstGeom>
          <a:solidFill>
            <a:srgbClr val="E07A5F"/>
          </a:solidFill>
        </p:spPr>
      </p:sp>
      <p:sp>
        <p:nvSpPr>
          <p:cNvPr id="29" name="Text 27"/>
          <p:cNvSpPr/>
          <p:nvPr>
            <p:custDataLst>
              <p:tags r:id="rId13"/>
            </p:custDataLst>
          </p:nvPr>
        </p:nvSpPr>
        <p:spPr>
          <a:xfrm>
            <a:off x="4626864" y="1243584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服务与 AI</a:t>
            </a:r>
            <a:endParaRPr lang="en-US" sz="1300" dirty="0"/>
          </a:p>
        </p:txBody>
      </p:sp>
      <p:sp>
        <p:nvSpPr>
          <p:cNvPr id="30" name="Shape 28"/>
          <p:cNvSpPr/>
          <p:nvPr>
            <p:custDataLst>
              <p:tags r:id="rId14"/>
            </p:custDataLst>
          </p:nvPr>
        </p:nvSpPr>
        <p:spPr>
          <a:xfrm>
            <a:off x="4809744" y="2002536"/>
            <a:ext cx="82296" cy="82296"/>
          </a:xfrm>
          <a:prstGeom prst="ellipse">
            <a:avLst/>
          </a:prstGeom>
          <a:solidFill>
            <a:srgbClr val="E07A5F"/>
          </a:solidFill>
        </p:spPr>
      </p:sp>
      <p:sp>
        <p:nvSpPr>
          <p:cNvPr id="31" name="Text 29"/>
          <p:cNvSpPr/>
          <p:nvPr>
            <p:custDataLst>
              <p:tags r:id="rId15"/>
            </p:custDataLst>
          </p:nvPr>
        </p:nvSpPr>
        <p:spPr>
          <a:xfrm>
            <a:off x="4974336" y="1920240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 dirty="0">
                <a:solidFill>
                  <a:srgbClr val="45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 / FastAPI</a:t>
            </a:r>
            <a:endParaRPr lang="en-US" sz="960" dirty="0">
              <a:solidFill>
                <a:srgbClr val="45425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zh-CN" altLang="en-US" sz="960" dirty="0"/>
              <a:t>大模型</a:t>
            </a:r>
            <a:r>
              <a:rPr lang="en-US" altLang="zh-CN" sz="960" dirty="0"/>
              <a:t>API</a:t>
            </a:r>
            <a:endParaRPr lang="zh-CN" alt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974336" y="2468880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4974336" y="3017520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960" dirty="0"/>
          </a:p>
        </p:txBody>
      </p:sp>
      <p:sp>
        <p:nvSpPr>
          <p:cNvPr id="38" name="Shape 36"/>
          <p:cNvSpPr/>
          <p:nvPr>
            <p:custDataLst>
              <p:tags r:id="rId16"/>
            </p:custDataLst>
          </p:nvPr>
        </p:nvSpPr>
        <p:spPr>
          <a:xfrm>
            <a:off x="6711696" y="1243584"/>
            <a:ext cx="1975104" cy="30175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9" name="Shape 37"/>
          <p:cNvSpPr/>
          <p:nvPr>
            <p:custDataLst>
              <p:tags r:id="rId17"/>
            </p:custDataLst>
          </p:nvPr>
        </p:nvSpPr>
        <p:spPr>
          <a:xfrm>
            <a:off x="6711696" y="1243584"/>
            <a:ext cx="1975104" cy="512064"/>
          </a:xfrm>
          <a:prstGeom prst="roundRect">
            <a:avLst>
              <a:gd name="adj" fmla="val 16071"/>
            </a:avLst>
          </a:prstGeom>
          <a:solidFill>
            <a:srgbClr val="4C9A6A"/>
          </a:solidFill>
        </p:spPr>
      </p:sp>
      <p:sp>
        <p:nvSpPr>
          <p:cNvPr id="40" name="Text 38"/>
          <p:cNvSpPr/>
          <p:nvPr>
            <p:custDataLst>
              <p:tags r:id="rId18"/>
            </p:custDataLst>
          </p:nvPr>
        </p:nvSpPr>
        <p:spPr>
          <a:xfrm>
            <a:off x="6711696" y="1243584"/>
            <a:ext cx="1975104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数据与运维</a:t>
            </a:r>
            <a:endParaRPr lang="en-US" sz="1300" dirty="0"/>
          </a:p>
        </p:txBody>
      </p:sp>
      <p:sp>
        <p:nvSpPr>
          <p:cNvPr id="41" name="Shape 39"/>
          <p:cNvSpPr/>
          <p:nvPr>
            <p:custDataLst>
              <p:tags r:id="rId19"/>
            </p:custDataLst>
          </p:nvPr>
        </p:nvSpPr>
        <p:spPr>
          <a:xfrm>
            <a:off x="6894576" y="2002536"/>
            <a:ext cx="82296" cy="82296"/>
          </a:xfrm>
          <a:prstGeom prst="ellipse">
            <a:avLst/>
          </a:prstGeom>
          <a:solidFill>
            <a:srgbClr val="4C9A6A"/>
          </a:solidFill>
        </p:spPr>
      </p:sp>
      <p:sp>
        <p:nvSpPr>
          <p:cNvPr id="42" name="Text 40"/>
          <p:cNvSpPr/>
          <p:nvPr>
            <p:custDataLst>
              <p:tags r:id="rId20"/>
            </p:custDataLst>
          </p:nvPr>
        </p:nvSpPr>
        <p:spPr>
          <a:xfrm>
            <a:off x="7059168" y="1920240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60" dirty="0">
                <a:solidFill>
                  <a:srgbClr val="4542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7059168" y="2468880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7059168" y="3017520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960" dirty="0"/>
          </a:p>
        </p:txBody>
      </p:sp>
      <p:sp>
        <p:nvSpPr>
          <p:cNvPr id="48" name="Text 46"/>
          <p:cNvSpPr/>
          <p:nvPr/>
        </p:nvSpPr>
        <p:spPr>
          <a:xfrm>
            <a:off x="7059168" y="3566160"/>
            <a:ext cx="15179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8275320" y="480974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A3B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75488"/>
          </a:xfrm>
          <a:prstGeom prst="roundRect">
            <a:avLst>
              <a:gd name="adj" fmla="val 25000"/>
            </a:avLst>
          </a:prstGeom>
          <a:solidFill>
            <a:srgbClr val="E07A5F"/>
          </a:solidFill>
        </p:spPr>
      </p:sp>
      <p:sp>
        <p:nvSpPr>
          <p:cNvPr id="3" name="Text 1"/>
          <p:cNvSpPr/>
          <p:nvPr/>
        </p:nvSpPr>
        <p:spPr>
          <a:xfrm>
            <a:off x="658368" y="3291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E8E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可行性评估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可行性分析：技术、条件、时间、规模四维可行</a:t>
            </a:r>
            <a:endParaRPr lang="en-US" sz="21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57200" y="1207008"/>
            <a:ext cx="3968496" cy="1371600"/>
          </a:xfrm>
          <a:prstGeom prst="roundRect">
            <a:avLst>
              <a:gd name="adj" fmla="val 6000"/>
            </a:avLst>
          </a:prstGeom>
          <a:solidFill>
            <a:srgbClr val="EEEBF7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658368" y="1371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5E4B8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1060704" y="1389888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技术可行</a:t>
            </a:r>
            <a:endParaRPr lang="en-US" sz="14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676656" y="1828800"/>
            <a:ext cx="35844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C49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情感分析、对话、量表计分、内容审核均有成熟 API 与开源方案，无重型自研模型；规则引擎保证高危场景可控。</a:t>
            </a:r>
            <a:endParaRPr lang="en-US" sz="98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4718304" y="1207008"/>
            <a:ext cx="3968496" cy="1371600"/>
          </a:xfrm>
          <a:prstGeom prst="roundRect">
            <a:avLst>
              <a:gd name="adj" fmla="val 6000"/>
            </a:avLst>
          </a:prstGeom>
          <a:solidFill>
            <a:srgbClr val="E4F1F3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4919472" y="1371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E8E9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5321808" y="1389888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条件可行</a:t>
            </a:r>
            <a:endParaRPr lang="en-US" sz="140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4937760" y="1828800"/>
            <a:ext cx="35844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C49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团队自身即目标用户，便于开展问卷与访谈验证；可邀请校心理中心老师担任顾问，指导伦理与转介流程。</a:t>
            </a:r>
            <a:endParaRPr lang="en-US" sz="980" dirty="0"/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457200" y="2798064"/>
            <a:ext cx="3968496" cy="1371600"/>
          </a:xfrm>
          <a:prstGeom prst="roundRect">
            <a:avLst>
              <a:gd name="adj" fmla="val 6000"/>
            </a:avLst>
          </a:prstGeom>
          <a:solidFill>
            <a:srgbClr val="FBEAE6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  <p:txBody>
          <a:bodyPr/>
          <a:p>
            <a:endParaRPr lang="zh-CN" altLang="en-US"/>
          </a:p>
          <a:p>
            <a:endParaRPr lang="zh-CN" altLang="en-US"/>
          </a:p>
          <a:p>
            <a:r>
              <a:rPr lang="en-US" altLang="zh-CN" sz="900"/>
              <a:t>    </a:t>
            </a:r>
            <a:r>
              <a:rPr lang="zh-CN" altLang="en-US" sz="900"/>
              <a:t>时间可控，充足完成</a:t>
            </a:r>
            <a:endParaRPr lang="zh-CN" altLang="en-US" sz="90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658368" y="296265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07A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1060704" y="298094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时间可行</a:t>
            </a:r>
            <a:endParaRPr lang="en-US" sz="140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676656" y="3419856"/>
            <a:ext cx="35844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98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4718304" y="2798064"/>
            <a:ext cx="3968496" cy="137160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 w="9525">
            <a:solidFill>
              <a:srgbClr val="E6E2F0"/>
            </a:solidFill>
            <a:prstDash val="solid"/>
          </a:ln>
          <a:effectLst>
            <a:outerShdw blurRad="76200" dist="25400" dir="5400000" algn="bl" rotWithShape="0">
              <a:srgbClr val="B9B2D6">
                <a:alpha val="28000"/>
              </a:srgbClr>
            </a:outerShdw>
          </a:effectLst>
        </p:spPr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4919472" y="296265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C9A6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5321808" y="298094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规模可行</a:t>
            </a:r>
            <a:endParaRPr lang="en-US" sz="14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4937760" y="3419856"/>
            <a:ext cx="35844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4C49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个功能点覆盖学生端与教师端，配合用例建模、测试与文档，6 人分工后工作量饱满且可控。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57200" y="4334256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75320" y="480974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A3B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文本框 24"/>
          <p:cNvSpPr txBox="1"/>
          <p:nvPr/>
        </p:nvSpPr>
        <p:spPr>
          <a:xfrm>
            <a:off x="1953260" y="491172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75488"/>
          </a:xfrm>
          <a:prstGeom prst="roundRect">
            <a:avLst>
              <a:gd name="adj" fmla="val 25000"/>
            </a:avLst>
          </a:prstGeom>
          <a:solidFill>
            <a:srgbClr val="E07A5F"/>
          </a:solidFill>
        </p:spPr>
      </p:sp>
      <p:sp>
        <p:nvSpPr>
          <p:cNvPr id="3" name="Text 1"/>
          <p:cNvSpPr/>
          <p:nvPr/>
        </p:nvSpPr>
        <p:spPr>
          <a:xfrm>
            <a:off x="658368" y="3291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E8E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可行性评估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C2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潜在风险与应对策略（心理安全与隐私为最高优先级）</a:t>
            </a:r>
            <a:endParaRPr lang="en-US" sz="2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384048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风险项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可能的问题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8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应对策略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3868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2A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心理安全与伦理（最高）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r>
                        <a:rPr lang="en-US" sz="930" dirty="0">
                          <a:solidFill>
                            <a:srgbClr val="4C496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 回应不当或延误高危个体，造成伤害</a:t>
                      </a:r>
                      <a:endParaRPr lang="en-US" sz="9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r>
                        <a:rPr lang="en-US" sz="930" dirty="0">
                          <a:solidFill>
                            <a:srgbClr val="4C496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高危语义规则强兜底+一键转介 12356/校中心；请心理中心老师评审；原型不向真实高危人群开放</a:t>
                      </a:r>
                      <a:endParaRPr lang="en-US" sz="9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2A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AI 误判 / 越界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r>
                        <a:rPr lang="en-US" sz="930" dirty="0">
                          <a:solidFill>
                            <a:srgbClr val="4C496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情感分级误报，或对话给出诊断性结论</a:t>
                      </a:r>
                      <a:endParaRPr lang="en-US" sz="9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r>
                        <a:rPr lang="en-US" sz="930" dirty="0">
                          <a:solidFill>
                            <a:srgbClr val="4C496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提供人工求助出口</a:t>
                      </a:r>
                      <a:endParaRPr lang="en-US" sz="9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C2A4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隐私数据泄露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r>
                        <a:rPr lang="en-US" sz="930" dirty="0">
                          <a:solidFill>
                            <a:srgbClr val="4C496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日记、对话等敏感信息被识别或滥用</a:t>
                      </a:r>
                      <a:endParaRPr lang="en-US" sz="9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r>
                        <a:rPr lang="en-US" sz="930" dirty="0">
                          <a:solidFill>
                            <a:srgbClr val="4C496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匿名注册、加密</a:t>
                      </a:r>
                      <a:r>
                        <a:rPr lang="zh-CN" altLang="en-US" sz="930" dirty="0">
                          <a:solidFill>
                            <a:srgbClr val="4C496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对话</a:t>
                      </a:r>
                      <a:endParaRPr lang="zh-CN" altLang="en-US" sz="930" dirty="0">
                        <a:solidFill>
                          <a:srgbClr val="4C496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心理安全与伦理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r>
                        <a:rPr lang="zh-CN" altLang="en-US" sz="9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坚持非诊断</a:t>
                      </a:r>
                      <a:endParaRPr lang="zh-CN" altLang="en-US" sz="9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r>
                        <a:rPr lang="zh-CN" altLang="en-US" sz="93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校心理中心老师做顾问</a:t>
                      </a:r>
                      <a:endParaRPr lang="zh-CN" altLang="en-US" sz="9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endParaRPr lang="en-US" sz="9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8000"/>
                        </a:lnSpc>
                        <a:buNone/>
                      </a:pPr>
                      <a:endParaRPr lang="en-US" sz="93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28032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75320" y="480974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7A3B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38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280160"/>
            <a:ext cx="3840480" cy="3840480"/>
          </a:xfrm>
          <a:prstGeom prst="ellipse">
            <a:avLst/>
          </a:prstGeom>
          <a:solidFill>
            <a:srgbClr val="51487F"/>
          </a:solidFill>
        </p:spPr>
      </p:sp>
      <p:sp>
        <p:nvSpPr>
          <p:cNvPr id="3" name="Shape 1"/>
          <p:cNvSpPr/>
          <p:nvPr/>
        </p:nvSpPr>
        <p:spPr>
          <a:xfrm>
            <a:off x="6949440" y="2651760"/>
            <a:ext cx="3474720" cy="3474720"/>
          </a:xfrm>
          <a:prstGeom prst="ellipse">
            <a:avLst/>
          </a:prstGeom>
          <a:solidFill>
            <a:srgbClr val="4A4380"/>
          </a:solidFill>
        </p:spPr>
      </p:sp>
      <p:sp>
        <p:nvSpPr>
          <p:cNvPr id="4" name="Shape 2"/>
          <p:cNvSpPr/>
          <p:nvPr/>
        </p:nvSpPr>
        <p:spPr>
          <a:xfrm>
            <a:off x="3977640" y="914400"/>
            <a:ext cx="1188720" cy="1188720"/>
          </a:xfrm>
          <a:prstGeom prst="ellipse">
            <a:avLst/>
          </a:prstGeom>
          <a:solidFill>
            <a:srgbClr val="E07A5F"/>
          </a:solidFill>
        </p:spPr>
      </p:sp>
      <p:sp>
        <p:nvSpPr>
          <p:cNvPr id="5" name="Text 3"/>
          <p:cNvSpPr/>
          <p:nvPr/>
        </p:nvSpPr>
        <p:spPr>
          <a:xfrm>
            <a:off x="3977640" y="960120"/>
            <a:ext cx="1188720" cy="1097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♥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kern="0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 · 敬请指正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749040" y="3584448"/>
            <a:ext cx="1645920" cy="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7490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BA4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年 9 月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2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3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4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5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6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7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8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9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10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11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12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13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14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15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16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17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18.xml><?xml version="1.0" encoding="utf-8"?>
<p:tagLst xmlns:p="http://schemas.openxmlformats.org/presentationml/2006/main">
  <p:tag name="KSO_WM_DIAGRAM_VIRTUALLY_FRAME" val="{&quot;height&quot;:257.76000000000005,&quot;left&quot;:51.839999999999996,&quot;top&quot;:102.96,&quot;width&quot;:549.36}"/>
</p:tagLst>
</file>

<file path=ppt/tags/tag19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20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21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22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23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24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25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26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27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28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29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30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31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32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33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34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35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36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37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38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39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40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41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42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43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44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45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46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47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48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49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50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51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52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53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54.xml><?xml version="1.0" encoding="utf-8"?>
<p:tagLst xmlns:p="http://schemas.openxmlformats.org/presentationml/2006/main">
  <p:tag name="KSO_WM_DIAGRAM_VIRTUALLY_FRAME" val="{&quot;height&quot;:254.88000000000002,&quot;left&quot;:36,&quot;top&quot;:96.47999999999999,&quot;width&quot;:648}"/>
</p:tagLst>
</file>

<file path=ppt/tags/tag55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56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57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58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59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60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61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62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63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64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65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66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67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68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69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70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71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72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73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74.xml><?xml version="1.0" encoding="utf-8"?>
<p:tagLst xmlns:p="http://schemas.openxmlformats.org/presentationml/2006/main">
  <p:tag name="KSO_WM_DIAGRAM_VIRTUALLY_FRAME" val="{&quot;height&quot;:237.6,&quot;left&quot;:36,&quot;top&quot;:97.91999999999999,&quot;width&quot;:648}"/>
</p:tagLst>
</file>

<file path=ppt/tags/tag75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ags/tag76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ags/tag77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ags/tag78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ags/tag79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ags/tag80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ags/tag81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ags/tag82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ags/tag83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ags/tag84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ags/tag85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ags/tag86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ags/tag87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ags/tag88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ags/tag89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ags/tag90.xml><?xml version="1.0" encoding="utf-8"?>
<p:tagLst xmlns:p="http://schemas.openxmlformats.org/presentationml/2006/main">
  <p:tag name="KSO_WM_DIAGRAM_VIRTUALLY_FRAME" val="{&quot;height&quot;:233.27999999999997,&quot;left&quot;:36,&quot;top&quot;:95.03999999999999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2879</Words>
  <Application>WPS 演示</Application>
  <PresentationFormat>On-screen Show (16:9)</PresentationFormat>
  <Paragraphs>474</Paragraphs>
  <Slides>14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微软雅黑</vt:lpstr>
      <vt:lpstr>Georgia</vt:lpstr>
      <vt:lpstr>Georgia</vt:lpstr>
      <vt:lpstr>Georgia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心晴方舟——高校学生AI心理支持与院系风险预警平台</dc:title>
  <dc:creator>心晴方舟团队</dc:creator>
  <dc:subject>PptxGenJS Presentation</dc:subject>
  <cp:lastModifiedBy>Sean</cp:lastModifiedBy>
  <cp:revision>10</cp:revision>
  <dcterms:created xsi:type="dcterms:W3CDTF">2026-09-12T02:58:00Z</dcterms:created>
  <dcterms:modified xsi:type="dcterms:W3CDTF">2026-09-12T07:18:49Z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30C343B3A5264A14A80104841F486127_12</vt:lpwstr>
  </property>
  <property fmtid="{D5CDD505-2E9C-101B-9397-08002B2CF9AE}" pid="3" name="KSOProductBuildVer">
    <vt:lpwstr>2052-12.1.0.21915</vt:lpwstr>
  </property>
</Properties>
</file>